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rimson Pro Semi Bold" pitchFamily="2" charset="77"/>
      <p:regular r:id="rId13"/>
    </p:embeddedFont>
    <p:embeddedFont>
      <p:font typeface="Heebo" pitchFamily="2" charset="-79"/>
      <p:regular r:id="rId14"/>
      <p:bold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p:scale>
          <a:sx n="91" d="100"/>
          <a:sy n="91" d="100"/>
        </p:scale>
        <p:origin x="584" y="4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50919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a:effectLst/>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0F0F1"/>
          </a:solidFill>
          <a:ln/>
        </p:spPr>
      </p:sp>
      <p:sp>
        <p:nvSpPr>
          <p:cNvPr id="3" name="Shape 1"/>
          <p:cNvSpPr/>
          <p:nvPr/>
        </p:nvSpPr>
        <p:spPr>
          <a:xfrm>
            <a:off x="0" y="0"/>
            <a:ext cx="14630400" cy="82296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0.xml"/><Relationship Id="rId5" Type="http://schemas.openxmlformats.org/officeDocument/2006/relationships/image" Target="../media/image2.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93790" y="2789396"/>
            <a:ext cx="12857440" cy="978218"/>
          </a:xfrm>
          <a:prstGeom prst="rect">
            <a:avLst/>
          </a:prstGeom>
          <a:noFill/>
          <a:ln/>
        </p:spPr>
        <p:txBody>
          <a:bodyPr wrap="none" lIns="0" tIns="0" rIns="0" bIns="0" rtlCol="0" anchor="t"/>
          <a:lstStyle/>
          <a:p>
            <a:pPr marL="0" indent="0" algn="l">
              <a:lnSpc>
                <a:spcPts val="7700"/>
              </a:lnSpc>
              <a:buNone/>
            </a:pPr>
            <a:r>
              <a:rPr lang="en-US" sz="6150" dirty="0">
                <a:solidFill>
                  <a:srgbClr val="152D47"/>
                </a:solidFill>
                <a:latin typeface="Crimson Pro Semi Bold" pitchFamily="34" charset="0"/>
                <a:ea typeface="Crimson Pro Semi Bold" pitchFamily="34" charset="-122"/>
                <a:cs typeface="Crimson Pro Semi Bold" pitchFamily="34" charset="-120"/>
              </a:rPr>
              <a:t>Phân tích dữ liệu Pima Indians Diabetes</a:t>
            </a:r>
            <a:endParaRPr lang="en-US" sz="6150" dirty="0"/>
          </a:p>
        </p:txBody>
      </p:sp>
      <p:sp>
        <p:nvSpPr>
          <p:cNvPr id="3" name="Text 1"/>
          <p:cNvSpPr/>
          <p:nvPr/>
        </p:nvSpPr>
        <p:spPr>
          <a:xfrm>
            <a:off x="793790" y="4107775"/>
            <a:ext cx="7923133"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Báo cáo kết quả phân loại bệnh tiểu đường</a:t>
            </a:r>
            <a:endParaRPr lang="en-US" sz="3550" dirty="0"/>
          </a:p>
        </p:txBody>
      </p:sp>
      <p:sp>
        <p:nvSpPr>
          <p:cNvPr id="4" name="Text 2"/>
          <p:cNvSpPr/>
          <p:nvPr/>
        </p:nvSpPr>
        <p:spPr>
          <a:xfrm>
            <a:off x="793790" y="5014913"/>
            <a:ext cx="5434013" cy="425291"/>
          </a:xfrm>
          <a:prstGeom prst="rect">
            <a:avLst/>
          </a:prstGeom>
          <a:noFill/>
          <a:ln/>
        </p:spPr>
        <p:txBody>
          <a:bodyPr wrap="none" lIns="0" tIns="0" rIns="0" bIns="0" rtlCol="0" anchor="t"/>
          <a:lstStyle/>
          <a:p>
            <a:pPr marL="0" indent="0" algn="l">
              <a:lnSpc>
                <a:spcPts val="3300"/>
              </a:lnSpc>
              <a:buNone/>
            </a:pPr>
            <a:r>
              <a:rPr lang="en-US" sz="2650" dirty="0">
                <a:solidFill>
                  <a:srgbClr val="152D47"/>
                </a:solidFill>
                <a:latin typeface="Crimson Pro Semi Bold" pitchFamily="34" charset="0"/>
                <a:ea typeface="Crimson Pro Semi Bold" pitchFamily="34" charset="-122"/>
                <a:cs typeface="Crimson Pro Semi Bold" pitchFamily="34" charset="-120"/>
              </a:rPr>
              <a:t>(Sử dụng Python &amp; Machine Learning)</a:t>
            </a:r>
            <a:endParaRPr lang="en-US" sz="2650" dirty="0"/>
          </a:p>
        </p:txBody>
      </p:sp>
      <p:pic>
        <p:nvPicPr>
          <p:cNvPr id="8" name="Picture 7" descr="A white background with black and white clouds&#10;&#10;AI-generated content may be incorrect.">
            <a:extLst>
              <a:ext uri="{FF2B5EF4-FFF2-40B4-BE49-F238E27FC236}">
                <a16:creationId xmlns:a16="http://schemas.microsoft.com/office/drawing/2014/main" id="{85323E5B-72C8-DAC3-C1A0-CDF07CB0B0BF}"/>
              </a:ext>
            </a:extLst>
          </p:cNvPr>
          <p:cNvPicPr>
            <a:picLocks noChangeAspect="1"/>
          </p:cNvPicPr>
          <p:nvPr/>
        </p:nvPicPr>
        <p:blipFill>
          <a:blip r:embed="rId3"/>
          <a:stretch>
            <a:fillRect/>
          </a:stretch>
        </p:blipFill>
        <p:spPr>
          <a:xfrm>
            <a:off x="11608875" y="5847485"/>
            <a:ext cx="3021525" cy="238211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343620"/>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1. Giới thiệu</a:t>
            </a:r>
            <a:endParaRPr lang="en-US" sz="3550" dirty="0"/>
          </a:p>
        </p:txBody>
      </p:sp>
      <p:sp>
        <p:nvSpPr>
          <p:cNvPr id="3" name="Text 1"/>
          <p:cNvSpPr/>
          <p:nvPr/>
        </p:nvSpPr>
        <p:spPr>
          <a:xfrm>
            <a:off x="793790" y="2369820"/>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Bệnh tiểu đường là một vấn đề sức khỏe toàn cầu nghiêm trọng.</a:t>
            </a:r>
            <a:endParaRPr lang="en-US" sz="1750" dirty="0"/>
          </a:p>
        </p:txBody>
      </p:sp>
      <p:sp>
        <p:nvSpPr>
          <p:cNvPr id="4" name="Text 2"/>
          <p:cNvSpPr/>
          <p:nvPr/>
        </p:nvSpPr>
        <p:spPr>
          <a:xfrm>
            <a:off x="793790" y="3299698"/>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Theo Tổ chức Y tế Thế giới (WHO), khoảng </a:t>
            </a:r>
            <a:r>
              <a:rPr lang="en-US" sz="1750" dirty="0">
                <a:solidFill>
                  <a:srgbClr val="E50000"/>
                </a:solidFill>
                <a:latin typeface="Heebo" pitchFamily="34" charset="0"/>
                <a:ea typeface="Heebo" pitchFamily="34" charset="-122"/>
                <a:cs typeface="Heebo" pitchFamily="34" charset="-120"/>
              </a:rPr>
              <a:t>422 triệu người trên toàn cầu</a:t>
            </a:r>
            <a:r>
              <a:rPr lang="en-US" sz="1750" dirty="0">
                <a:solidFill>
                  <a:srgbClr val="4C4C4D"/>
                </a:solidFill>
                <a:latin typeface="Heebo" pitchFamily="34" charset="0"/>
                <a:ea typeface="Heebo" pitchFamily="34" charset="-122"/>
                <a:cs typeface="Heebo" pitchFamily="34" charset="-120"/>
              </a:rPr>
              <a:t> mắc bệnh tiểu đường, và con số này đang tiếp tục gia tăng.</a:t>
            </a:r>
            <a:endParaRPr lang="en-US" sz="1750" dirty="0"/>
          </a:p>
        </p:txBody>
      </p:sp>
      <p:sp>
        <p:nvSpPr>
          <p:cNvPr id="5" name="Text 3"/>
          <p:cNvSpPr/>
          <p:nvPr/>
        </p:nvSpPr>
        <p:spPr>
          <a:xfrm>
            <a:off x="793790" y="4592479"/>
            <a:ext cx="6244709" cy="1088708"/>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Việc </a:t>
            </a:r>
            <a:r>
              <a:rPr lang="en-US" sz="1750" b="1" dirty="0">
                <a:solidFill>
                  <a:srgbClr val="4C4C4D"/>
                </a:solidFill>
                <a:latin typeface="Heebo" pitchFamily="34" charset="0"/>
                <a:ea typeface="Heebo" pitchFamily="34" charset="-122"/>
                <a:cs typeface="Heebo" pitchFamily="34" charset="-120"/>
              </a:rPr>
              <a:t>dự đoán sớm</a:t>
            </a:r>
            <a:r>
              <a:rPr lang="en-US" sz="1750" dirty="0">
                <a:solidFill>
                  <a:srgbClr val="4C4C4D"/>
                </a:solidFill>
                <a:latin typeface="Heebo" pitchFamily="34" charset="0"/>
                <a:ea typeface="Heebo" pitchFamily="34" charset="-122"/>
                <a:cs typeface="Heebo" pitchFamily="34" charset="-120"/>
              </a:rPr>
              <a:t> đóng vai trò </a:t>
            </a:r>
            <a:r>
              <a:rPr lang="en-US" sz="1750" dirty="0">
                <a:solidFill>
                  <a:srgbClr val="00AEEF"/>
                </a:solidFill>
                <a:latin typeface="Heebo" pitchFamily="34" charset="0"/>
                <a:ea typeface="Heebo" pitchFamily="34" charset="-122"/>
                <a:cs typeface="Heebo" pitchFamily="34" charset="-120"/>
              </a:rPr>
              <a:t>then chốt</a:t>
            </a:r>
            <a:r>
              <a:rPr lang="en-US" sz="1750" dirty="0">
                <a:solidFill>
                  <a:srgbClr val="4C4C4D"/>
                </a:solidFill>
                <a:latin typeface="Heebo" pitchFamily="34" charset="0"/>
                <a:ea typeface="Heebo" pitchFamily="34" charset="-122"/>
                <a:cs typeface="Heebo" pitchFamily="34" charset="-120"/>
              </a:rPr>
              <a:t> trong việc phòng ngừa và điều trị hiệu quả, góp phần nâng cao chất lượng cuộc sống cho bệnh nhân.</a:t>
            </a:r>
            <a:endParaRPr lang="en-US" sz="1750" dirty="0"/>
          </a:p>
        </p:txBody>
      </p:sp>
      <p:sp>
        <p:nvSpPr>
          <p:cNvPr id="6" name="Text 4"/>
          <p:cNvSpPr/>
          <p:nvPr/>
        </p:nvSpPr>
        <p:spPr>
          <a:xfrm>
            <a:off x="7599521" y="2369820"/>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Nghiên cứu này sử dụng bộ dữ liệu </a:t>
            </a:r>
            <a:r>
              <a:rPr lang="en-US" sz="1750" b="1" dirty="0">
                <a:solidFill>
                  <a:srgbClr val="4C4C4D"/>
                </a:solidFill>
                <a:latin typeface="Heebo" pitchFamily="34" charset="0"/>
                <a:ea typeface="Heebo" pitchFamily="34" charset="-122"/>
                <a:cs typeface="Heebo" pitchFamily="34" charset="-120"/>
              </a:rPr>
              <a:t>Pima Indians Diabetes</a:t>
            </a:r>
            <a:r>
              <a:rPr lang="en-US" sz="1750" dirty="0">
                <a:solidFill>
                  <a:srgbClr val="4C4C4D"/>
                </a:solidFill>
                <a:latin typeface="Heebo" pitchFamily="34" charset="0"/>
                <a:ea typeface="Heebo" pitchFamily="34" charset="-122"/>
                <a:cs typeface="Heebo" pitchFamily="34" charset="-120"/>
              </a:rPr>
              <a:t>, một dataset kinh điển trong học máy, được thu thập từ:</a:t>
            </a:r>
            <a:endParaRPr lang="en-US" sz="1750" dirty="0"/>
          </a:p>
        </p:txBody>
      </p:sp>
      <p:sp>
        <p:nvSpPr>
          <p:cNvPr id="7" name="Text 5"/>
          <p:cNvSpPr/>
          <p:nvPr/>
        </p:nvSpPr>
        <p:spPr>
          <a:xfrm>
            <a:off x="7599521" y="3299698"/>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Cộng đồng phụ nữ Pima Indian ở Arizona, Mỹ.</a:t>
            </a:r>
            <a:endParaRPr lang="en-US" sz="1750" dirty="0"/>
          </a:p>
        </p:txBody>
      </p:sp>
      <p:sp>
        <p:nvSpPr>
          <p:cNvPr id="8" name="Text 6"/>
          <p:cNvSpPr/>
          <p:nvPr/>
        </p:nvSpPr>
        <p:spPr>
          <a:xfrm>
            <a:off x="7599521" y="3741896"/>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4C4C4D"/>
                </a:solidFill>
                <a:latin typeface="Heebo" pitchFamily="34" charset="0"/>
                <a:ea typeface="Heebo" pitchFamily="34" charset="-122"/>
                <a:cs typeface="Heebo" pitchFamily="34" charset="-120"/>
              </a:rPr>
              <a:t>Khu vực có </a:t>
            </a:r>
            <a:r>
              <a:rPr lang="en-US" sz="1750" dirty="0">
                <a:solidFill>
                  <a:srgbClr val="4C4C4D"/>
                </a:solidFill>
                <a:highlight>
                  <a:srgbClr val="FFF0B3"/>
                </a:highlight>
                <a:latin typeface="Heebo" pitchFamily="34" charset="0"/>
                <a:ea typeface="Heebo" pitchFamily="34" charset="-122"/>
                <a:cs typeface="Heebo" pitchFamily="34" charset="-120"/>
              </a:rPr>
              <a:t>tỷ lệ mắc bệnh cao</a:t>
            </a:r>
            <a:r>
              <a:rPr lang="en-US" sz="1750" dirty="0">
                <a:solidFill>
                  <a:srgbClr val="4C4C4D"/>
                </a:solidFill>
                <a:latin typeface="Heebo" pitchFamily="34" charset="0"/>
                <a:ea typeface="Heebo" pitchFamily="34" charset="-122"/>
                <a:cs typeface="Heebo" pitchFamily="34" charset="-120"/>
              </a:rPr>
              <a:t>.</a:t>
            </a:r>
            <a:endParaRPr lang="en-US" sz="1750" dirty="0"/>
          </a:p>
        </p:txBody>
      </p:sp>
      <p:sp>
        <p:nvSpPr>
          <p:cNvPr id="9" name="Shape 7"/>
          <p:cNvSpPr/>
          <p:nvPr/>
        </p:nvSpPr>
        <p:spPr>
          <a:xfrm>
            <a:off x="7599521" y="4359950"/>
            <a:ext cx="6244709" cy="2270760"/>
          </a:xfrm>
          <a:prstGeom prst="roundRect">
            <a:avLst>
              <a:gd name="adj" fmla="val 1498"/>
            </a:avLst>
          </a:prstGeom>
          <a:solidFill>
            <a:srgbClr val="B3C3FF"/>
          </a:solidFill>
          <a:ln/>
        </p:spPr>
        <p:txBody>
          <a:bodyPr/>
          <a:lstStyle/>
          <a:p>
            <a:endParaRPr lang="en-US"/>
          </a:p>
        </p:txBody>
      </p:sp>
      <p:pic>
        <p:nvPicPr>
          <p:cNvPr id="10" name="Image 0" descr="preencoded.png"/>
          <p:cNvPicPr>
            <a:picLocks noChangeAspect="1"/>
          </p:cNvPicPr>
          <p:nvPr/>
        </p:nvPicPr>
        <p:blipFill>
          <a:blip r:embed="rId3"/>
          <a:stretch>
            <a:fillRect/>
          </a:stretch>
        </p:blipFill>
        <p:spPr>
          <a:xfrm>
            <a:off x="7826335" y="4662011"/>
            <a:ext cx="354330" cy="283488"/>
          </a:xfrm>
          <a:prstGeom prst="rect">
            <a:avLst/>
          </a:prstGeom>
        </p:spPr>
      </p:pic>
      <p:sp>
        <p:nvSpPr>
          <p:cNvPr id="11" name="Text 8"/>
          <p:cNvSpPr/>
          <p:nvPr/>
        </p:nvSpPr>
        <p:spPr>
          <a:xfrm>
            <a:off x="8407479" y="464343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000000"/>
                </a:solidFill>
                <a:latin typeface="Crimson Pro Semi Bold" pitchFamily="34" charset="0"/>
                <a:ea typeface="Crimson Pro Semi Bold" pitchFamily="34" charset="-122"/>
                <a:cs typeface="Crimson Pro Semi Bold" pitchFamily="34" charset="-120"/>
              </a:rPr>
              <a:t>Mục tiêu nghiên cứu</a:t>
            </a:r>
            <a:endParaRPr lang="en-US" sz="2200" dirty="0"/>
          </a:p>
        </p:txBody>
      </p:sp>
      <p:sp>
        <p:nvSpPr>
          <p:cNvPr id="12" name="Text 9"/>
          <p:cNvSpPr/>
          <p:nvPr/>
        </p:nvSpPr>
        <p:spPr>
          <a:xfrm>
            <a:off x="8407479" y="5224582"/>
            <a:ext cx="5209937" cy="1088708"/>
          </a:xfrm>
          <a:prstGeom prst="rect">
            <a:avLst/>
          </a:prstGeom>
          <a:noFill/>
          <a:ln/>
        </p:spPr>
        <p:txBody>
          <a:bodyPr wrap="square" lIns="0" tIns="0" rIns="0" bIns="0" rtlCol="0" anchor="t"/>
          <a:lstStyle/>
          <a:p>
            <a:pPr marL="0" indent="0" algn="l">
              <a:lnSpc>
                <a:spcPts val="2850"/>
              </a:lnSpc>
              <a:buNone/>
            </a:pPr>
            <a:r>
              <a:rPr lang="en-US" sz="1750" dirty="0">
                <a:solidFill>
                  <a:srgbClr val="000000"/>
                </a:solidFill>
                <a:latin typeface="Heebo" pitchFamily="34" charset="0"/>
                <a:ea typeface="Heebo" pitchFamily="34" charset="-122"/>
                <a:cs typeface="Heebo" pitchFamily="34" charset="-120"/>
              </a:rPr>
              <a:t>Xây dựng một mô hình dự đoán bệnh tiểu đường dựa trên các đặc điểm y tế và sinh học của cá nhân.</a:t>
            </a:r>
            <a:endParaRPr lang="en-US" sz="1750" dirty="0"/>
          </a:p>
        </p:txBody>
      </p:sp>
      <p:pic>
        <p:nvPicPr>
          <p:cNvPr id="14" name="Picture 13" descr="A white background with black and white clouds&#10;&#10;AI-generated content may be incorrect.">
            <a:extLst>
              <a:ext uri="{FF2B5EF4-FFF2-40B4-BE49-F238E27FC236}">
                <a16:creationId xmlns:a16="http://schemas.microsoft.com/office/drawing/2014/main" id="{6966A9BA-851C-4F70-B236-796DF8DE3778}"/>
              </a:ext>
            </a:extLst>
          </p:cNvPr>
          <p:cNvPicPr>
            <a:picLocks noChangeAspect="1"/>
          </p:cNvPicPr>
          <p:nvPr/>
        </p:nvPicPr>
        <p:blipFill>
          <a:blip r:embed="rId4"/>
          <a:stretch>
            <a:fillRect/>
          </a:stretch>
        </p:blipFill>
        <p:spPr>
          <a:xfrm>
            <a:off x="12889035" y="6825867"/>
            <a:ext cx="1741365" cy="137286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793790" y="880586"/>
            <a:ext cx="3175516" cy="396835"/>
          </a:xfrm>
          <a:prstGeom prst="rect">
            <a:avLst/>
          </a:prstGeom>
          <a:noFill/>
          <a:ln/>
        </p:spPr>
        <p:txBody>
          <a:bodyPr wrap="none" lIns="0" tIns="0" rIns="0" bIns="0" rtlCol="0" anchor="t"/>
          <a:lstStyle/>
          <a:p>
            <a:pPr marL="0" indent="0" algn="l">
              <a:lnSpc>
                <a:spcPts val="3100"/>
              </a:lnSpc>
              <a:buNone/>
            </a:pPr>
            <a:r>
              <a:rPr lang="en-US" sz="2500" dirty="0">
                <a:solidFill>
                  <a:srgbClr val="152D47"/>
                </a:solidFill>
                <a:latin typeface="Crimson Pro Semi Bold" pitchFamily="34" charset="0"/>
                <a:ea typeface="Crimson Pro Semi Bold" pitchFamily="34" charset="-122"/>
                <a:cs typeface="Crimson Pro Semi Bold" pitchFamily="34" charset="-120"/>
              </a:rPr>
              <a:t>2. Đặc điểm dữ liệu</a:t>
            </a:r>
            <a:endParaRPr lang="en-US" sz="2500" dirty="0"/>
          </a:p>
        </p:txBody>
      </p:sp>
      <p:sp>
        <p:nvSpPr>
          <p:cNvPr id="3" name="Text 1"/>
          <p:cNvSpPr/>
          <p:nvPr/>
        </p:nvSpPr>
        <p:spPr>
          <a:xfrm>
            <a:off x="793790" y="1594961"/>
            <a:ext cx="13042821" cy="254079"/>
          </a:xfrm>
          <a:prstGeom prst="rect">
            <a:avLst/>
          </a:prstGeom>
          <a:noFill/>
          <a:ln/>
        </p:spPr>
        <p:txBody>
          <a:bodyPr wrap="none" lIns="0" tIns="0" rIns="0" bIns="0" rtlCol="0" anchor="t"/>
          <a:lstStyle/>
          <a:p>
            <a:pPr marL="0" indent="0" algn="l">
              <a:lnSpc>
                <a:spcPts val="2000"/>
              </a:lnSpc>
              <a:buNone/>
            </a:pPr>
            <a:r>
              <a:rPr lang="en-US" sz="1250" dirty="0">
                <a:solidFill>
                  <a:srgbClr val="4C4C4D"/>
                </a:solidFill>
                <a:latin typeface="Heebo" pitchFamily="34" charset="0"/>
                <a:ea typeface="Heebo" pitchFamily="34" charset="-122"/>
                <a:cs typeface="Heebo" pitchFamily="34" charset="-120"/>
              </a:rPr>
              <a:t>Bộ dữ liệu bao gồm </a:t>
            </a:r>
            <a:r>
              <a:rPr lang="en-US" sz="1250" dirty="0">
                <a:solidFill>
                  <a:srgbClr val="2B0AFF"/>
                </a:solidFill>
                <a:latin typeface="Heebo" pitchFamily="34" charset="0"/>
                <a:ea typeface="Heebo" pitchFamily="34" charset="-122"/>
                <a:cs typeface="Heebo" pitchFamily="34" charset="-120"/>
              </a:rPr>
              <a:t>768 mẫu quan sát</a:t>
            </a:r>
            <a:r>
              <a:rPr lang="en-US" sz="1250" dirty="0">
                <a:solidFill>
                  <a:srgbClr val="4C4C4D"/>
                </a:solidFill>
                <a:latin typeface="Heebo" pitchFamily="34" charset="0"/>
                <a:ea typeface="Heebo" pitchFamily="34" charset="-122"/>
                <a:cs typeface="Heebo" pitchFamily="34" charset="-120"/>
              </a:rPr>
              <a:t>, mỗi mẫu đại diện cho một phụ nữ Pima Indian. Mỗi mẫu được mô tả bởi </a:t>
            </a:r>
            <a:r>
              <a:rPr lang="en-US" sz="1250" dirty="0">
                <a:solidFill>
                  <a:srgbClr val="2B0AFF"/>
                </a:solidFill>
                <a:latin typeface="Heebo" pitchFamily="34" charset="0"/>
                <a:ea typeface="Heebo" pitchFamily="34" charset="-122"/>
                <a:cs typeface="Heebo" pitchFamily="34" charset="-120"/>
              </a:rPr>
              <a:t>8 biến độc lập</a:t>
            </a:r>
            <a:r>
              <a:rPr lang="en-US" sz="1250" dirty="0">
                <a:solidFill>
                  <a:srgbClr val="4C4C4D"/>
                </a:solidFill>
                <a:latin typeface="Heebo" pitchFamily="34" charset="0"/>
                <a:ea typeface="Heebo" pitchFamily="34" charset="-122"/>
                <a:cs typeface="Heebo" pitchFamily="34" charset="-120"/>
              </a:rPr>
              <a:t> (features) và </a:t>
            </a:r>
            <a:r>
              <a:rPr lang="en-US" sz="1250" dirty="0">
                <a:solidFill>
                  <a:srgbClr val="2B0AFF"/>
                </a:solidFill>
                <a:latin typeface="Heebo" pitchFamily="34" charset="0"/>
                <a:ea typeface="Heebo" pitchFamily="34" charset="-122"/>
                <a:cs typeface="Heebo" pitchFamily="34" charset="-120"/>
              </a:rPr>
              <a:t>1 biến mục tiêu</a:t>
            </a:r>
            <a:r>
              <a:rPr lang="en-US" sz="1250" dirty="0">
                <a:solidFill>
                  <a:srgbClr val="4C4C4D"/>
                </a:solidFill>
                <a:latin typeface="Heebo" pitchFamily="34" charset="0"/>
                <a:ea typeface="Heebo" pitchFamily="34" charset="-122"/>
                <a:cs typeface="Heebo" pitchFamily="34" charset="-120"/>
              </a:rPr>
              <a:t> (target variable).</a:t>
            </a:r>
            <a:endParaRPr lang="en-US" sz="1250" dirty="0"/>
          </a:p>
        </p:txBody>
      </p:sp>
      <p:sp>
        <p:nvSpPr>
          <p:cNvPr id="4" name="Shape 2"/>
          <p:cNvSpPr/>
          <p:nvPr/>
        </p:nvSpPr>
        <p:spPr>
          <a:xfrm>
            <a:off x="793790" y="2265759"/>
            <a:ext cx="4241721" cy="1683901"/>
          </a:xfrm>
          <a:prstGeom prst="roundRect">
            <a:avLst>
              <a:gd name="adj" fmla="val 6516"/>
            </a:avLst>
          </a:prstGeom>
          <a:solidFill>
            <a:srgbClr val="FFFFFF"/>
          </a:solidFill>
          <a:ln/>
        </p:spPr>
        <p:txBody>
          <a:bodyPr/>
          <a:lstStyle/>
          <a:p>
            <a:endParaRPr lang="en-US"/>
          </a:p>
        </p:txBody>
      </p:sp>
      <p:sp>
        <p:nvSpPr>
          <p:cNvPr id="5" name="Shape 3"/>
          <p:cNvSpPr/>
          <p:nvPr/>
        </p:nvSpPr>
        <p:spPr>
          <a:xfrm>
            <a:off x="793790" y="2242899"/>
            <a:ext cx="4241721" cy="91440"/>
          </a:xfrm>
          <a:prstGeom prst="roundRect">
            <a:avLst>
              <a:gd name="adj" fmla="val 26046"/>
            </a:avLst>
          </a:prstGeom>
          <a:solidFill>
            <a:srgbClr val="2150FE"/>
          </a:solidFill>
          <a:ln/>
        </p:spPr>
        <p:txBody>
          <a:bodyPr/>
          <a:lstStyle/>
          <a:p>
            <a:endParaRPr lang="en-US"/>
          </a:p>
        </p:txBody>
      </p:sp>
      <p:sp>
        <p:nvSpPr>
          <p:cNvPr id="6" name="Shape 4"/>
          <p:cNvSpPr/>
          <p:nvPr/>
        </p:nvSpPr>
        <p:spPr>
          <a:xfrm>
            <a:off x="2676525" y="2027634"/>
            <a:ext cx="476250" cy="476250"/>
          </a:xfrm>
          <a:prstGeom prst="roundRect">
            <a:avLst>
              <a:gd name="adj" fmla="val 192000"/>
            </a:avLst>
          </a:prstGeom>
          <a:solidFill>
            <a:srgbClr val="2150FE"/>
          </a:solidFill>
          <a:ln/>
        </p:spPr>
        <p:txBody>
          <a:bodyPr/>
          <a:lstStyle/>
          <a:p>
            <a:endParaRPr lang="en-US"/>
          </a:p>
        </p:txBody>
      </p:sp>
      <p:sp>
        <p:nvSpPr>
          <p:cNvPr id="7" name="Text 5"/>
          <p:cNvSpPr/>
          <p:nvPr/>
        </p:nvSpPr>
        <p:spPr>
          <a:xfrm>
            <a:off x="2819400" y="2146697"/>
            <a:ext cx="190500" cy="238125"/>
          </a:xfrm>
          <a:prstGeom prst="rect">
            <a:avLst/>
          </a:prstGeom>
          <a:noFill/>
          <a:ln/>
        </p:spPr>
        <p:txBody>
          <a:bodyPr wrap="none" lIns="0" tIns="0" rIns="0" bIns="0" rtlCol="0" anchor="t"/>
          <a:lstStyle/>
          <a:p>
            <a:pPr marL="0" indent="0" algn="l">
              <a:lnSpc>
                <a:spcPts val="2400"/>
              </a:lnSpc>
              <a:buNone/>
            </a:pPr>
            <a:r>
              <a:rPr lang="en-US" sz="1500" dirty="0">
                <a:solidFill>
                  <a:srgbClr val="FFFFFF"/>
                </a:solidFill>
                <a:latin typeface="Crimson Pro Semi Bold" pitchFamily="34" charset="0"/>
                <a:ea typeface="Crimson Pro Semi Bold" pitchFamily="34" charset="-122"/>
                <a:cs typeface="Crimson Pro Semi Bold" pitchFamily="34" charset="-120"/>
              </a:rPr>
              <a:t>1</a:t>
            </a:r>
            <a:endParaRPr lang="en-US" sz="1500" dirty="0"/>
          </a:p>
        </p:txBody>
      </p:sp>
      <p:sp>
        <p:nvSpPr>
          <p:cNvPr id="8" name="Text 6"/>
          <p:cNvSpPr/>
          <p:nvPr/>
        </p:nvSpPr>
        <p:spPr>
          <a:xfrm>
            <a:off x="975360" y="2662595"/>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4C4C4D"/>
                </a:solidFill>
                <a:latin typeface="Crimson Pro Semi Bold" pitchFamily="34" charset="0"/>
                <a:ea typeface="Crimson Pro Semi Bold" pitchFamily="34" charset="-122"/>
                <a:cs typeface="Crimson Pro Semi Bold" pitchFamily="34" charset="-120"/>
              </a:rPr>
              <a:t>Biến mục tiêu: Outcome</a:t>
            </a:r>
            <a:endParaRPr lang="en-US" sz="1550" dirty="0"/>
          </a:p>
        </p:txBody>
      </p:sp>
      <p:sp>
        <p:nvSpPr>
          <p:cNvPr id="9" name="Text 7"/>
          <p:cNvSpPr/>
          <p:nvPr/>
        </p:nvSpPr>
        <p:spPr>
          <a:xfrm>
            <a:off x="975360" y="3005852"/>
            <a:ext cx="3878580" cy="762238"/>
          </a:xfrm>
          <a:prstGeom prst="rect">
            <a:avLst/>
          </a:prstGeom>
          <a:noFill/>
          <a:ln/>
        </p:spPr>
        <p:txBody>
          <a:bodyPr wrap="square" lIns="0" tIns="0" rIns="0" bIns="0" rtlCol="0" anchor="t"/>
          <a:lstStyle/>
          <a:p>
            <a:pPr marL="0" indent="0" algn="l">
              <a:lnSpc>
                <a:spcPts val="2000"/>
              </a:lnSpc>
              <a:buNone/>
            </a:pPr>
            <a:r>
              <a:rPr lang="en-US" sz="1250" dirty="0">
                <a:solidFill>
                  <a:srgbClr val="4C4C4D"/>
                </a:solidFill>
                <a:latin typeface="Heebo" pitchFamily="34" charset="0"/>
                <a:ea typeface="Heebo" pitchFamily="34" charset="-122"/>
                <a:cs typeface="Heebo" pitchFamily="34" charset="-120"/>
              </a:rPr>
              <a:t>Đây là biến nhị phân, cho biết liệu cá nhân đó có mắc bệnh tiểu đường (giá trị 1) hay không (giá trị 0). Khoảng 34.9% các mẫu thuộc lớp dương tính.</a:t>
            </a:r>
            <a:endParaRPr lang="en-US" sz="1250" dirty="0"/>
          </a:p>
        </p:txBody>
      </p:sp>
      <p:sp>
        <p:nvSpPr>
          <p:cNvPr id="10" name="Shape 8"/>
          <p:cNvSpPr/>
          <p:nvPr/>
        </p:nvSpPr>
        <p:spPr>
          <a:xfrm>
            <a:off x="5194221" y="2265759"/>
            <a:ext cx="4241840" cy="1683901"/>
          </a:xfrm>
          <a:prstGeom prst="roundRect">
            <a:avLst>
              <a:gd name="adj" fmla="val 6516"/>
            </a:avLst>
          </a:prstGeom>
          <a:solidFill>
            <a:srgbClr val="FFFFFF"/>
          </a:solidFill>
          <a:ln/>
        </p:spPr>
        <p:txBody>
          <a:bodyPr/>
          <a:lstStyle/>
          <a:p>
            <a:endParaRPr lang="en-US"/>
          </a:p>
        </p:txBody>
      </p:sp>
      <p:sp>
        <p:nvSpPr>
          <p:cNvPr id="11" name="Shape 9"/>
          <p:cNvSpPr/>
          <p:nvPr/>
        </p:nvSpPr>
        <p:spPr>
          <a:xfrm>
            <a:off x="5194221" y="2242899"/>
            <a:ext cx="4241840" cy="91440"/>
          </a:xfrm>
          <a:prstGeom prst="roundRect">
            <a:avLst>
              <a:gd name="adj" fmla="val 26046"/>
            </a:avLst>
          </a:prstGeom>
          <a:solidFill>
            <a:srgbClr val="2150FE"/>
          </a:solidFill>
          <a:ln/>
        </p:spPr>
        <p:txBody>
          <a:bodyPr/>
          <a:lstStyle/>
          <a:p>
            <a:endParaRPr lang="en-US"/>
          </a:p>
        </p:txBody>
      </p:sp>
      <p:sp>
        <p:nvSpPr>
          <p:cNvPr id="12" name="Shape 10"/>
          <p:cNvSpPr/>
          <p:nvPr/>
        </p:nvSpPr>
        <p:spPr>
          <a:xfrm>
            <a:off x="7076956" y="2027634"/>
            <a:ext cx="476250" cy="476250"/>
          </a:xfrm>
          <a:prstGeom prst="roundRect">
            <a:avLst>
              <a:gd name="adj" fmla="val 192000"/>
            </a:avLst>
          </a:prstGeom>
          <a:solidFill>
            <a:srgbClr val="2150FE"/>
          </a:solidFill>
          <a:ln/>
        </p:spPr>
        <p:txBody>
          <a:bodyPr/>
          <a:lstStyle/>
          <a:p>
            <a:endParaRPr lang="en-US"/>
          </a:p>
        </p:txBody>
      </p:sp>
      <p:sp>
        <p:nvSpPr>
          <p:cNvPr id="13" name="Text 11"/>
          <p:cNvSpPr/>
          <p:nvPr/>
        </p:nvSpPr>
        <p:spPr>
          <a:xfrm>
            <a:off x="7219831" y="2146697"/>
            <a:ext cx="190500" cy="238125"/>
          </a:xfrm>
          <a:prstGeom prst="rect">
            <a:avLst/>
          </a:prstGeom>
          <a:noFill/>
          <a:ln/>
        </p:spPr>
        <p:txBody>
          <a:bodyPr wrap="none" lIns="0" tIns="0" rIns="0" bIns="0" rtlCol="0" anchor="t"/>
          <a:lstStyle/>
          <a:p>
            <a:pPr marL="0" indent="0" algn="l">
              <a:lnSpc>
                <a:spcPts val="2400"/>
              </a:lnSpc>
              <a:buNone/>
            </a:pPr>
            <a:r>
              <a:rPr lang="en-US" sz="1500" dirty="0">
                <a:solidFill>
                  <a:srgbClr val="FFFFFF"/>
                </a:solidFill>
                <a:latin typeface="Crimson Pro Semi Bold" pitchFamily="34" charset="0"/>
                <a:ea typeface="Crimson Pro Semi Bold" pitchFamily="34" charset="-122"/>
                <a:cs typeface="Crimson Pro Semi Bold" pitchFamily="34" charset="-120"/>
              </a:rPr>
              <a:t>2</a:t>
            </a:r>
            <a:endParaRPr lang="en-US" sz="1500" dirty="0"/>
          </a:p>
        </p:txBody>
      </p:sp>
      <p:sp>
        <p:nvSpPr>
          <p:cNvPr id="14" name="Text 12"/>
          <p:cNvSpPr/>
          <p:nvPr/>
        </p:nvSpPr>
        <p:spPr>
          <a:xfrm>
            <a:off x="5375791" y="2662595"/>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4C4C4D"/>
                </a:solidFill>
                <a:latin typeface="Crimson Pro Semi Bold" pitchFamily="34" charset="0"/>
                <a:ea typeface="Crimson Pro Semi Bold" pitchFamily="34" charset="-122"/>
                <a:cs typeface="Crimson Pro Semi Bold" pitchFamily="34" charset="-120"/>
              </a:rPr>
              <a:t>Pregnancies</a:t>
            </a:r>
            <a:endParaRPr lang="en-US" sz="1550" dirty="0"/>
          </a:p>
        </p:txBody>
      </p:sp>
      <p:sp>
        <p:nvSpPr>
          <p:cNvPr id="15" name="Text 13"/>
          <p:cNvSpPr/>
          <p:nvPr/>
        </p:nvSpPr>
        <p:spPr>
          <a:xfrm>
            <a:off x="5375791" y="3005852"/>
            <a:ext cx="3878699" cy="254079"/>
          </a:xfrm>
          <a:prstGeom prst="rect">
            <a:avLst/>
          </a:prstGeom>
          <a:noFill/>
          <a:ln/>
        </p:spPr>
        <p:txBody>
          <a:bodyPr wrap="none" lIns="0" tIns="0" rIns="0" bIns="0" rtlCol="0" anchor="t"/>
          <a:lstStyle/>
          <a:p>
            <a:pPr marL="0" indent="0" algn="l">
              <a:lnSpc>
                <a:spcPts val="2000"/>
              </a:lnSpc>
              <a:buNone/>
            </a:pPr>
            <a:r>
              <a:rPr lang="en-US" sz="1250" dirty="0">
                <a:solidFill>
                  <a:srgbClr val="4C4C4D"/>
                </a:solidFill>
                <a:latin typeface="Heebo" pitchFamily="34" charset="0"/>
                <a:ea typeface="Heebo" pitchFamily="34" charset="-122"/>
                <a:cs typeface="Heebo" pitchFamily="34" charset="-120"/>
              </a:rPr>
              <a:t>Số lần mang thai của cá nhân.</a:t>
            </a:r>
            <a:endParaRPr lang="en-US" sz="1250" dirty="0"/>
          </a:p>
        </p:txBody>
      </p:sp>
      <p:sp>
        <p:nvSpPr>
          <p:cNvPr id="16" name="Shape 14"/>
          <p:cNvSpPr/>
          <p:nvPr/>
        </p:nvSpPr>
        <p:spPr>
          <a:xfrm>
            <a:off x="9594771" y="2265759"/>
            <a:ext cx="4241721" cy="1683901"/>
          </a:xfrm>
          <a:prstGeom prst="roundRect">
            <a:avLst>
              <a:gd name="adj" fmla="val 6516"/>
            </a:avLst>
          </a:prstGeom>
          <a:solidFill>
            <a:srgbClr val="FFFFFF"/>
          </a:solidFill>
          <a:ln/>
        </p:spPr>
        <p:txBody>
          <a:bodyPr/>
          <a:lstStyle/>
          <a:p>
            <a:endParaRPr lang="en-US"/>
          </a:p>
        </p:txBody>
      </p:sp>
      <p:sp>
        <p:nvSpPr>
          <p:cNvPr id="17" name="Shape 15"/>
          <p:cNvSpPr/>
          <p:nvPr/>
        </p:nvSpPr>
        <p:spPr>
          <a:xfrm>
            <a:off x="9594771" y="2242899"/>
            <a:ext cx="4241721" cy="91440"/>
          </a:xfrm>
          <a:prstGeom prst="roundRect">
            <a:avLst>
              <a:gd name="adj" fmla="val 26046"/>
            </a:avLst>
          </a:prstGeom>
          <a:solidFill>
            <a:srgbClr val="2150FE"/>
          </a:solidFill>
          <a:ln/>
        </p:spPr>
        <p:txBody>
          <a:bodyPr/>
          <a:lstStyle/>
          <a:p>
            <a:endParaRPr lang="en-US"/>
          </a:p>
        </p:txBody>
      </p:sp>
      <p:sp>
        <p:nvSpPr>
          <p:cNvPr id="18" name="Shape 16"/>
          <p:cNvSpPr/>
          <p:nvPr/>
        </p:nvSpPr>
        <p:spPr>
          <a:xfrm>
            <a:off x="11477506" y="2027634"/>
            <a:ext cx="476250" cy="476250"/>
          </a:xfrm>
          <a:prstGeom prst="roundRect">
            <a:avLst>
              <a:gd name="adj" fmla="val 192000"/>
            </a:avLst>
          </a:prstGeom>
          <a:solidFill>
            <a:srgbClr val="2150FE"/>
          </a:solidFill>
          <a:ln/>
        </p:spPr>
        <p:txBody>
          <a:bodyPr/>
          <a:lstStyle/>
          <a:p>
            <a:endParaRPr lang="en-US"/>
          </a:p>
        </p:txBody>
      </p:sp>
      <p:sp>
        <p:nvSpPr>
          <p:cNvPr id="19" name="Text 17"/>
          <p:cNvSpPr/>
          <p:nvPr/>
        </p:nvSpPr>
        <p:spPr>
          <a:xfrm>
            <a:off x="11620381" y="2146697"/>
            <a:ext cx="190500" cy="238125"/>
          </a:xfrm>
          <a:prstGeom prst="rect">
            <a:avLst/>
          </a:prstGeom>
          <a:noFill/>
          <a:ln/>
        </p:spPr>
        <p:txBody>
          <a:bodyPr wrap="none" lIns="0" tIns="0" rIns="0" bIns="0" rtlCol="0" anchor="t"/>
          <a:lstStyle/>
          <a:p>
            <a:pPr marL="0" indent="0" algn="l">
              <a:lnSpc>
                <a:spcPts val="2400"/>
              </a:lnSpc>
              <a:buNone/>
            </a:pPr>
            <a:r>
              <a:rPr lang="en-US" sz="1500" dirty="0">
                <a:solidFill>
                  <a:srgbClr val="FFFFFF"/>
                </a:solidFill>
                <a:latin typeface="Crimson Pro Semi Bold" pitchFamily="34" charset="0"/>
                <a:ea typeface="Crimson Pro Semi Bold" pitchFamily="34" charset="-122"/>
                <a:cs typeface="Crimson Pro Semi Bold" pitchFamily="34" charset="-120"/>
              </a:rPr>
              <a:t>3</a:t>
            </a:r>
            <a:endParaRPr lang="en-US" sz="1500" dirty="0"/>
          </a:p>
        </p:txBody>
      </p:sp>
      <p:sp>
        <p:nvSpPr>
          <p:cNvPr id="20" name="Text 18"/>
          <p:cNvSpPr/>
          <p:nvPr/>
        </p:nvSpPr>
        <p:spPr>
          <a:xfrm>
            <a:off x="9776341" y="2662595"/>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4C4C4D"/>
                </a:solidFill>
                <a:latin typeface="Crimson Pro Semi Bold" pitchFamily="34" charset="0"/>
                <a:ea typeface="Crimson Pro Semi Bold" pitchFamily="34" charset="-122"/>
                <a:cs typeface="Crimson Pro Semi Bold" pitchFamily="34" charset="-120"/>
              </a:rPr>
              <a:t>Glucose</a:t>
            </a:r>
            <a:endParaRPr lang="en-US" sz="1550" dirty="0"/>
          </a:p>
        </p:txBody>
      </p:sp>
      <p:sp>
        <p:nvSpPr>
          <p:cNvPr id="21" name="Text 19"/>
          <p:cNvSpPr/>
          <p:nvPr/>
        </p:nvSpPr>
        <p:spPr>
          <a:xfrm>
            <a:off x="9776341" y="3005852"/>
            <a:ext cx="3878580" cy="508159"/>
          </a:xfrm>
          <a:prstGeom prst="rect">
            <a:avLst/>
          </a:prstGeom>
          <a:noFill/>
          <a:ln/>
        </p:spPr>
        <p:txBody>
          <a:bodyPr wrap="square" lIns="0" tIns="0" rIns="0" bIns="0" rtlCol="0" anchor="t"/>
          <a:lstStyle/>
          <a:p>
            <a:pPr marL="0" indent="0" algn="l">
              <a:lnSpc>
                <a:spcPts val="2000"/>
              </a:lnSpc>
              <a:buNone/>
            </a:pPr>
            <a:r>
              <a:rPr lang="en-US" sz="1250" dirty="0">
                <a:solidFill>
                  <a:srgbClr val="4C4C4D"/>
                </a:solidFill>
                <a:latin typeface="Heebo" pitchFamily="34" charset="0"/>
                <a:ea typeface="Heebo" pitchFamily="34" charset="-122"/>
                <a:cs typeface="Heebo" pitchFamily="34" charset="-120"/>
              </a:rPr>
              <a:t>Nồng độ glucose trong máu (mg/dL) sau 2 giờ uống glucose.</a:t>
            </a:r>
            <a:endParaRPr lang="en-US" sz="1250" dirty="0"/>
          </a:p>
        </p:txBody>
      </p:sp>
      <p:sp>
        <p:nvSpPr>
          <p:cNvPr id="22" name="Shape 20"/>
          <p:cNvSpPr/>
          <p:nvPr/>
        </p:nvSpPr>
        <p:spPr>
          <a:xfrm>
            <a:off x="793790" y="4346496"/>
            <a:ext cx="4241721" cy="1175742"/>
          </a:xfrm>
          <a:prstGeom prst="roundRect">
            <a:avLst>
              <a:gd name="adj" fmla="val 9333"/>
            </a:avLst>
          </a:prstGeom>
          <a:solidFill>
            <a:srgbClr val="FFFFFF"/>
          </a:solidFill>
          <a:ln/>
        </p:spPr>
        <p:txBody>
          <a:bodyPr/>
          <a:lstStyle/>
          <a:p>
            <a:endParaRPr lang="en-US"/>
          </a:p>
        </p:txBody>
      </p:sp>
      <p:sp>
        <p:nvSpPr>
          <p:cNvPr id="23" name="Shape 21"/>
          <p:cNvSpPr/>
          <p:nvPr/>
        </p:nvSpPr>
        <p:spPr>
          <a:xfrm>
            <a:off x="793790" y="4323636"/>
            <a:ext cx="4241721" cy="91440"/>
          </a:xfrm>
          <a:prstGeom prst="roundRect">
            <a:avLst>
              <a:gd name="adj" fmla="val 26046"/>
            </a:avLst>
          </a:prstGeom>
          <a:solidFill>
            <a:srgbClr val="2150FE"/>
          </a:solidFill>
          <a:ln/>
        </p:spPr>
        <p:txBody>
          <a:bodyPr/>
          <a:lstStyle/>
          <a:p>
            <a:endParaRPr lang="en-US"/>
          </a:p>
        </p:txBody>
      </p:sp>
      <p:sp>
        <p:nvSpPr>
          <p:cNvPr id="24" name="Shape 22"/>
          <p:cNvSpPr/>
          <p:nvPr/>
        </p:nvSpPr>
        <p:spPr>
          <a:xfrm>
            <a:off x="2676525" y="4108371"/>
            <a:ext cx="476250" cy="476250"/>
          </a:xfrm>
          <a:prstGeom prst="roundRect">
            <a:avLst>
              <a:gd name="adj" fmla="val 192000"/>
            </a:avLst>
          </a:prstGeom>
          <a:solidFill>
            <a:srgbClr val="2150FE"/>
          </a:solidFill>
          <a:ln/>
        </p:spPr>
        <p:txBody>
          <a:bodyPr/>
          <a:lstStyle/>
          <a:p>
            <a:endParaRPr lang="en-US"/>
          </a:p>
        </p:txBody>
      </p:sp>
      <p:sp>
        <p:nvSpPr>
          <p:cNvPr id="25" name="Text 23"/>
          <p:cNvSpPr/>
          <p:nvPr/>
        </p:nvSpPr>
        <p:spPr>
          <a:xfrm>
            <a:off x="2819400" y="4227433"/>
            <a:ext cx="190500" cy="238125"/>
          </a:xfrm>
          <a:prstGeom prst="rect">
            <a:avLst/>
          </a:prstGeom>
          <a:noFill/>
          <a:ln/>
        </p:spPr>
        <p:txBody>
          <a:bodyPr wrap="none" lIns="0" tIns="0" rIns="0" bIns="0" rtlCol="0" anchor="t"/>
          <a:lstStyle/>
          <a:p>
            <a:pPr marL="0" indent="0" algn="l">
              <a:lnSpc>
                <a:spcPts val="2400"/>
              </a:lnSpc>
              <a:buNone/>
            </a:pPr>
            <a:r>
              <a:rPr lang="en-US" sz="1500" dirty="0">
                <a:solidFill>
                  <a:srgbClr val="FFFFFF"/>
                </a:solidFill>
                <a:latin typeface="Crimson Pro Semi Bold" pitchFamily="34" charset="0"/>
                <a:ea typeface="Crimson Pro Semi Bold" pitchFamily="34" charset="-122"/>
                <a:cs typeface="Crimson Pro Semi Bold" pitchFamily="34" charset="-120"/>
              </a:rPr>
              <a:t>4</a:t>
            </a:r>
            <a:endParaRPr lang="en-US" sz="1500" dirty="0"/>
          </a:p>
        </p:txBody>
      </p:sp>
      <p:sp>
        <p:nvSpPr>
          <p:cNvPr id="26" name="Text 24"/>
          <p:cNvSpPr/>
          <p:nvPr/>
        </p:nvSpPr>
        <p:spPr>
          <a:xfrm>
            <a:off x="975360" y="4743331"/>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4C4C4D"/>
                </a:solidFill>
                <a:latin typeface="Crimson Pro Semi Bold" pitchFamily="34" charset="0"/>
                <a:ea typeface="Crimson Pro Semi Bold" pitchFamily="34" charset="-122"/>
                <a:cs typeface="Crimson Pro Semi Bold" pitchFamily="34" charset="-120"/>
              </a:rPr>
              <a:t>BloodPressure</a:t>
            </a:r>
            <a:endParaRPr lang="en-US" sz="1550" dirty="0"/>
          </a:p>
        </p:txBody>
      </p:sp>
      <p:sp>
        <p:nvSpPr>
          <p:cNvPr id="27" name="Text 25"/>
          <p:cNvSpPr/>
          <p:nvPr/>
        </p:nvSpPr>
        <p:spPr>
          <a:xfrm>
            <a:off x="975360" y="5086588"/>
            <a:ext cx="3878580" cy="254079"/>
          </a:xfrm>
          <a:prstGeom prst="rect">
            <a:avLst/>
          </a:prstGeom>
          <a:noFill/>
          <a:ln/>
        </p:spPr>
        <p:txBody>
          <a:bodyPr wrap="none" lIns="0" tIns="0" rIns="0" bIns="0" rtlCol="0" anchor="t"/>
          <a:lstStyle/>
          <a:p>
            <a:pPr marL="0" indent="0" algn="l">
              <a:lnSpc>
                <a:spcPts val="2000"/>
              </a:lnSpc>
              <a:buNone/>
            </a:pPr>
            <a:r>
              <a:rPr lang="en-US" sz="1250" dirty="0">
                <a:solidFill>
                  <a:srgbClr val="4C4C4D"/>
                </a:solidFill>
                <a:latin typeface="Heebo" pitchFamily="34" charset="0"/>
                <a:ea typeface="Heebo" pitchFamily="34" charset="-122"/>
                <a:cs typeface="Heebo" pitchFamily="34" charset="-120"/>
              </a:rPr>
              <a:t>Huyết áp tâm trương (mmHg).</a:t>
            </a:r>
            <a:endParaRPr lang="en-US" sz="1250" dirty="0"/>
          </a:p>
        </p:txBody>
      </p:sp>
      <p:sp>
        <p:nvSpPr>
          <p:cNvPr id="28" name="Shape 26"/>
          <p:cNvSpPr/>
          <p:nvPr/>
        </p:nvSpPr>
        <p:spPr>
          <a:xfrm>
            <a:off x="5194221" y="4346496"/>
            <a:ext cx="4241840" cy="1175742"/>
          </a:xfrm>
          <a:prstGeom prst="roundRect">
            <a:avLst>
              <a:gd name="adj" fmla="val 9333"/>
            </a:avLst>
          </a:prstGeom>
          <a:solidFill>
            <a:srgbClr val="FFFFFF"/>
          </a:solidFill>
          <a:ln/>
        </p:spPr>
        <p:txBody>
          <a:bodyPr/>
          <a:lstStyle/>
          <a:p>
            <a:endParaRPr lang="en-US"/>
          </a:p>
        </p:txBody>
      </p:sp>
      <p:sp>
        <p:nvSpPr>
          <p:cNvPr id="29" name="Shape 27"/>
          <p:cNvSpPr/>
          <p:nvPr/>
        </p:nvSpPr>
        <p:spPr>
          <a:xfrm>
            <a:off x="5194221" y="4323636"/>
            <a:ext cx="4241840" cy="91440"/>
          </a:xfrm>
          <a:prstGeom prst="roundRect">
            <a:avLst>
              <a:gd name="adj" fmla="val 26046"/>
            </a:avLst>
          </a:prstGeom>
          <a:solidFill>
            <a:srgbClr val="2150FE"/>
          </a:solidFill>
          <a:ln/>
        </p:spPr>
        <p:txBody>
          <a:bodyPr/>
          <a:lstStyle/>
          <a:p>
            <a:endParaRPr lang="en-US"/>
          </a:p>
        </p:txBody>
      </p:sp>
      <p:sp>
        <p:nvSpPr>
          <p:cNvPr id="30" name="Shape 28"/>
          <p:cNvSpPr/>
          <p:nvPr/>
        </p:nvSpPr>
        <p:spPr>
          <a:xfrm>
            <a:off x="7076956" y="4108371"/>
            <a:ext cx="476250" cy="476250"/>
          </a:xfrm>
          <a:prstGeom prst="roundRect">
            <a:avLst>
              <a:gd name="adj" fmla="val 192000"/>
            </a:avLst>
          </a:prstGeom>
          <a:solidFill>
            <a:srgbClr val="2150FE"/>
          </a:solidFill>
          <a:ln/>
        </p:spPr>
        <p:txBody>
          <a:bodyPr/>
          <a:lstStyle/>
          <a:p>
            <a:endParaRPr lang="en-US"/>
          </a:p>
        </p:txBody>
      </p:sp>
      <p:sp>
        <p:nvSpPr>
          <p:cNvPr id="31" name="Text 29"/>
          <p:cNvSpPr/>
          <p:nvPr/>
        </p:nvSpPr>
        <p:spPr>
          <a:xfrm>
            <a:off x="7219831" y="4227433"/>
            <a:ext cx="190500" cy="238125"/>
          </a:xfrm>
          <a:prstGeom prst="rect">
            <a:avLst/>
          </a:prstGeom>
          <a:noFill/>
          <a:ln/>
        </p:spPr>
        <p:txBody>
          <a:bodyPr wrap="none" lIns="0" tIns="0" rIns="0" bIns="0" rtlCol="0" anchor="t"/>
          <a:lstStyle/>
          <a:p>
            <a:pPr marL="0" indent="0" algn="l">
              <a:lnSpc>
                <a:spcPts val="2400"/>
              </a:lnSpc>
              <a:buNone/>
            </a:pPr>
            <a:r>
              <a:rPr lang="en-US" sz="1500" dirty="0">
                <a:solidFill>
                  <a:srgbClr val="FFFFFF"/>
                </a:solidFill>
                <a:latin typeface="Crimson Pro Semi Bold" pitchFamily="34" charset="0"/>
                <a:ea typeface="Crimson Pro Semi Bold" pitchFamily="34" charset="-122"/>
                <a:cs typeface="Crimson Pro Semi Bold" pitchFamily="34" charset="-120"/>
              </a:rPr>
              <a:t>5</a:t>
            </a:r>
            <a:endParaRPr lang="en-US" sz="1500" dirty="0"/>
          </a:p>
        </p:txBody>
      </p:sp>
      <p:sp>
        <p:nvSpPr>
          <p:cNvPr id="32" name="Text 30"/>
          <p:cNvSpPr/>
          <p:nvPr/>
        </p:nvSpPr>
        <p:spPr>
          <a:xfrm>
            <a:off x="5375791" y="4743331"/>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4C4C4D"/>
                </a:solidFill>
                <a:latin typeface="Crimson Pro Semi Bold" pitchFamily="34" charset="0"/>
                <a:ea typeface="Crimson Pro Semi Bold" pitchFamily="34" charset="-122"/>
                <a:cs typeface="Crimson Pro Semi Bold" pitchFamily="34" charset="-120"/>
              </a:rPr>
              <a:t>SkinThickness</a:t>
            </a:r>
            <a:endParaRPr lang="en-US" sz="1550" dirty="0"/>
          </a:p>
        </p:txBody>
      </p:sp>
      <p:sp>
        <p:nvSpPr>
          <p:cNvPr id="33" name="Text 31"/>
          <p:cNvSpPr/>
          <p:nvPr/>
        </p:nvSpPr>
        <p:spPr>
          <a:xfrm>
            <a:off x="5375791" y="5086588"/>
            <a:ext cx="3878699" cy="254079"/>
          </a:xfrm>
          <a:prstGeom prst="rect">
            <a:avLst/>
          </a:prstGeom>
          <a:noFill/>
          <a:ln/>
        </p:spPr>
        <p:txBody>
          <a:bodyPr wrap="none" lIns="0" tIns="0" rIns="0" bIns="0" rtlCol="0" anchor="t"/>
          <a:lstStyle/>
          <a:p>
            <a:pPr marL="0" indent="0" algn="l">
              <a:lnSpc>
                <a:spcPts val="2000"/>
              </a:lnSpc>
              <a:buNone/>
            </a:pPr>
            <a:r>
              <a:rPr lang="en-US" sz="1250" dirty="0">
                <a:solidFill>
                  <a:srgbClr val="4C4C4D"/>
                </a:solidFill>
                <a:latin typeface="Heebo" pitchFamily="34" charset="0"/>
                <a:ea typeface="Heebo" pitchFamily="34" charset="-122"/>
                <a:cs typeface="Heebo" pitchFamily="34" charset="-120"/>
              </a:rPr>
              <a:t>Độ dày nếp gấp da cơ tam đầu (mm).</a:t>
            </a:r>
            <a:endParaRPr lang="en-US" sz="1250" dirty="0"/>
          </a:p>
        </p:txBody>
      </p:sp>
      <p:sp>
        <p:nvSpPr>
          <p:cNvPr id="34" name="Shape 32"/>
          <p:cNvSpPr/>
          <p:nvPr/>
        </p:nvSpPr>
        <p:spPr>
          <a:xfrm>
            <a:off x="9594771" y="4346496"/>
            <a:ext cx="4241721" cy="1175742"/>
          </a:xfrm>
          <a:prstGeom prst="roundRect">
            <a:avLst>
              <a:gd name="adj" fmla="val 9333"/>
            </a:avLst>
          </a:prstGeom>
          <a:solidFill>
            <a:srgbClr val="FFFFFF"/>
          </a:solidFill>
          <a:ln/>
        </p:spPr>
        <p:txBody>
          <a:bodyPr/>
          <a:lstStyle/>
          <a:p>
            <a:endParaRPr lang="en-US"/>
          </a:p>
        </p:txBody>
      </p:sp>
      <p:sp>
        <p:nvSpPr>
          <p:cNvPr id="35" name="Shape 33"/>
          <p:cNvSpPr/>
          <p:nvPr/>
        </p:nvSpPr>
        <p:spPr>
          <a:xfrm>
            <a:off x="9594771" y="4323636"/>
            <a:ext cx="4241721" cy="91440"/>
          </a:xfrm>
          <a:prstGeom prst="roundRect">
            <a:avLst>
              <a:gd name="adj" fmla="val 26046"/>
            </a:avLst>
          </a:prstGeom>
          <a:solidFill>
            <a:srgbClr val="2150FE"/>
          </a:solidFill>
          <a:ln/>
        </p:spPr>
        <p:txBody>
          <a:bodyPr/>
          <a:lstStyle/>
          <a:p>
            <a:endParaRPr lang="en-US"/>
          </a:p>
        </p:txBody>
      </p:sp>
      <p:sp>
        <p:nvSpPr>
          <p:cNvPr id="36" name="Shape 34"/>
          <p:cNvSpPr/>
          <p:nvPr/>
        </p:nvSpPr>
        <p:spPr>
          <a:xfrm>
            <a:off x="11477506" y="4108371"/>
            <a:ext cx="476250" cy="476250"/>
          </a:xfrm>
          <a:prstGeom prst="roundRect">
            <a:avLst>
              <a:gd name="adj" fmla="val 192000"/>
            </a:avLst>
          </a:prstGeom>
          <a:solidFill>
            <a:srgbClr val="2150FE"/>
          </a:solidFill>
          <a:ln/>
        </p:spPr>
        <p:txBody>
          <a:bodyPr/>
          <a:lstStyle/>
          <a:p>
            <a:endParaRPr lang="en-US"/>
          </a:p>
        </p:txBody>
      </p:sp>
      <p:sp>
        <p:nvSpPr>
          <p:cNvPr id="37" name="Text 35"/>
          <p:cNvSpPr/>
          <p:nvPr/>
        </p:nvSpPr>
        <p:spPr>
          <a:xfrm>
            <a:off x="11620381" y="4227433"/>
            <a:ext cx="190500" cy="238125"/>
          </a:xfrm>
          <a:prstGeom prst="rect">
            <a:avLst/>
          </a:prstGeom>
          <a:noFill/>
          <a:ln/>
        </p:spPr>
        <p:txBody>
          <a:bodyPr wrap="none" lIns="0" tIns="0" rIns="0" bIns="0" rtlCol="0" anchor="t"/>
          <a:lstStyle/>
          <a:p>
            <a:pPr marL="0" indent="0" algn="l">
              <a:lnSpc>
                <a:spcPts val="2400"/>
              </a:lnSpc>
              <a:buNone/>
            </a:pPr>
            <a:r>
              <a:rPr lang="en-US" sz="1500" dirty="0">
                <a:solidFill>
                  <a:srgbClr val="FFFFFF"/>
                </a:solidFill>
                <a:latin typeface="Crimson Pro Semi Bold" pitchFamily="34" charset="0"/>
                <a:ea typeface="Crimson Pro Semi Bold" pitchFamily="34" charset="-122"/>
                <a:cs typeface="Crimson Pro Semi Bold" pitchFamily="34" charset="-120"/>
              </a:rPr>
              <a:t>6</a:t>
            </a:r>
            <a:endParaRPr lang="en-US" sz="1500" dirty="0"/>
          </a:p>
        </p:txBody>
      </p:sp>
      <p:sp>
        <p:nvSpPr>
          <p:cNvPr id="38" name="Text 36"/>
          <p:cNvSpPr/>
          <p:nvPr/>
        </p:nvSpPr>
        <p:spPr>
          <a:xfrm>
            <a:off x="9776341" y="4743331"/>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4C4C4D"/>
                </a:solidFill>
                <a:latin typeface="Crimson Pro Semi Bold" pitchFamily="34" charset="0"/>
                <a:ea typeface="Crimson Pro Semi Bold" pitchFamily="34" charset="-122"/>
                <a:cs typeface="Crimson Pro Semi Bold" pitchFamily="34" charset="-120"/>
              </a:rPr>
              <a:t>Insulin</a:t>
            </a:r>
            <a:endParaRPr lang="en-US" sz="1550" dirty="0"/>
          </a:p>
        </p:txBody>
      </p:sp>
      <p:sp>
        <p:nvSpPr>
          <p:cNvPr id="39" name="Text 37"/>
          <p:cNvSpPr/>
          <p:nvPr/>
        </p:nvSpPr>
        <p:spPr>
          <a:xfrm>
            <a:off x="9776341" y="5086588"/>
            <a:ext cx="3878580" cy="254079"/>
          </a:xfrm>
          <a:prstGeom prst="rect">
            <a:avLst/>
          </a:prstGeom>
          <a:noFill/>
          <a:ln/>
        </p:spPr>
        <p:txBody>
          <a:bodyPr wrap="none" lIns="0" tIns="0" rIns="0" bIns="0" rtlCol="0" anchor="t"/>
          <a:lstStyle/>
          <a:p>
            <a:pPr marL="0" indent="0" algn="l">
              <a:lnSpc>
                <a:spcPts val="2000"/>
              </a:lnSpc>
              <a:buNone/>
            </a:pPr>
            <a:r>
              <a:rPr lang="en-US" sz="1250" dirty="0">
                <a:solidFill>
                  <a:srgbClr val="4C4C4D"/>
                </a:solidFill>
                <a:latin typeface="Heebo" pitchFamily="34" charset="0"/>
                <a:ea typeface="Heebo" pitchFamily="34" charset="-122"/>
                <a:cs typeface="Heebo" pitchFamily="34" charset="-120"/>
              </a:rPr>
              <a:t>Nồng độ insulin trong huyết thanh sau 2 giờ (mu U/ml).</a:t>
            </a:r>
            <a:endParaRPr lang="en-US" sz="1250" dirty="0"/>
          </a:p>
        </p:txBody>
      </p:sp>
      <p:sp>
        <p:nvSpPr>
          <p:cNvPr id="40" name="Shape 38"/>
          <p:cNvSpPr/>
          <p:nvPr/>
        </p:nvSpPr>
        <p:spPr>
          <a:xfrm>
            <a:off x="793790" y="5919073"/>
            <a:ext cx="4241721" cy="1429822"/>
          </a:xfrm>
          <a:prstGeom prst="roundRect">
            <a:avLst>
              <a:gd name="adj" fmla="val 7674"/>
            </a:avLst>
          </a:prstGeom>
          <a:solidFill>
            <a:srgbClr val="FFFFFF"/>
          </a:solidFill>
          <a:ln/>
        </p:spPr>
        <p:txBody>
          <a:bodyPr/>
          <a:lstStyle/>
          <a:p>
            <a:endParaRPr lang="en-US"/>
          </a:p>
        </p:txBody>
      </p:sp>
      <p:sp>
        <p:nvSpPr>
          <p:cNvPr id="41" name="Shape 39"/>
          <p:cNvSpPr/>
          <p:nvPr/>
        </p:nvSpPr>
        <p:spPr>
          <a:xfrm>
            <a:off x="793790" y="5896213"/>
            <a:ext cx="4241721" cy="91440"/>
          </a:xfrm>
          <a:prstGeom prst="roundRect">
            <a:avLst>
              <a:gd name="adj" fmla="val 26046"/>
            </a:avLst>
          </a:prstGeom>
          <a:solidFill>
            <a:srgbClr val="2150FE"/>
          </a:solidFill>
          <a:ln/>
        </p:spPr>
        <p:txBody>
          <a:bodyPr/>
          <a:lstStyle/>
          <a:p>
            <a:endParaRPr lang="en-US"/>
          </a:p>
        </p:txBody>
      </p:sp>
      <p:sp>
        <p:nvSpPr>
          <p:cNvPr id="42" name="Shape 40"/>
          <p:cNvSpPr/>
          <p:nvPr/>
        </p:nvSpPr>
        <p:spPr>
          <a:xfrm>
            <a:off x="2676525" y="5680948"/>
            <a:ext cx="476250" cy="476250"/>
          </a:xfrm>
          <a:prstGeom prst="roundRect">
            <a:avLst>
              <a:gd name="adj" fmla="val 192000"/>
            </a:avLst>
          </a:prstGeom>
          <a:solidFill>
            <a:srgbClr val="2150FE"/>
          </a:solidFill>
          <a:ln/>
        </p:spPr>
        <p:txBody>
          <a:bodyPr/>
          <a:lstStyle/>
          <a:p>
            <a:endParaRPr lang="en-US"/>
          </a:p>
        </p:txBody>
      </p:sp>
      <p:sp>
        <p:nvSpPr>
          <p:cNvPr id="43" name="Text 41"/>
          <p:cNvSpPr/>
          <p:nvPr/>
        </p:nvSpPr>
        <p:spPr>
          <a:xfrm>
            <a:off x="2819400" y="5800011"/>
            <a:ext cx="190500" cy="238125"/>
          </a:xfrm>
          <a:prstGeom prst="rect">
            <a:avLst/>
          </a:prstGeom>
          <a:noFill/>
          <a:ln/>
        </p:spPr>
        <p:txBody>
          <a:bodyPr wrap="none" lIns="0" tIns="0" rIns="0" bIns="0" rtlCol="0" anchor="t"/>
          <a:lstStyle/>
          <a:p>
            <a:pPr marL="0" indent="0" algn="l">
              <a:lnSpc>
                <a:spcPts val="2400"/>
              </a:lnSpc>
              <a:buNone/>
            </a:pPr>
            <a:r>
              <a:rPr lang="en-US" sz="1500" dirty="0">
                <a:solidFill>
                  <a:srgbClr val="FFFFFF"/>
                </a:solidFill>
                <a:latin typeface="Crimson Pro Semi Bold" pitchFamily="34" charset="0"/>
                <a:ea typeface="Crimson Pro Semi Bold" pitchFamily="34" charset="-122"/>
                <a:cs typeface="Crimson Pro Semi Bold" pitchFamily="34" charset="-120"/>
              </a:rPr>
              <a:t>7</a:t>
            </a:r>
            <a:endParaRPr lang="en-US" sz="1500" dirty="0"/>
          </a:p>
        </p:txBody>
      </p:sp>
      <p:sp>
        <p:nvSpPr>
          <p:cNvPr id="44" name="Text 42"/>
          <p:cNvSpPr/>
          <p:nvPr/>
        </p:nvSpPr>
        <p:spPr>
          <a:xfrm>
            <a:off x="975360" y="6315908"/>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4C4C4D"/>
                </a:solidFill>
                <a:latin typeface="Crimson Pro Semi Bold" pitchFamily="34" charset="0"/>
                <a:ea typeface="Crimson Pro Semi Bold" pitchFamily="34" charset="-122"/>
                <a:cs typeface="Crimson Pro Semi Bold" pitchFamily="34" charset="-120"/>
              </a:rPr>
              <a:t>BMI</a:t>
            </a:r>
            <a:endParaRPr lang="en-US" sz="1550" dirty="0"/>
          </a:p>
        </p:txBody>
      </p:sp>
      <p:sp>
        <p:nvSpPr>
          <p:cNvPr id="45" name="Text 43"/>
          <p:cNvSpPr/>
          <p:nvPr/>
        </p:nvSpPr>
        <p:spPr>
          <a:xfrm>
            <a:off x="975360" y="6659166"/>
            <a:ext cx="3878580" cy="254079"/>
          </a:xfrm>
          <a:prstGeom prst="rect">
            <a:avLst/>
          </a:prstGeom>
          <a:noFill/>
          <a:ln/>
        </p:spPr>
        <p:txBody>
          <a:bodyPr wrap="none" lIns="0" tIns="0" rIns="0" bIns="0" rtlCol="0" anchor="t"/>
          <a:lstStyle/>
          <a:p>
            <a:pPr marL="0" indent="0" algn="l">
              <a:lnSpc>
                <a:spcPts val="2000"/>
              </a:lnSpc>
              <a:buNone/>
            </a:pPr>
            <a:r>
              <a:rPr lang="en-US" sz="1250" dirty="0">
                <a:solidFill>
                  <a:srgbClr val="4C4C4D"/>
                </a:solidFill>
                <a:latin typeface="Heebo" pitchFamily="34" charset="0"/>
                <a:ea typeface="Heebo" pitchFamily="34" charset="-122"/>
                <a:cs typeface="Heebo" pitchFamily="34" charset="-120"/>
              </a:rPr>
              <a:t>Chỉ số khối cơ thể (kg/m²).</a:t>
            </a:r>
            <a:endParaRPr lang="en-US" sz="1250" dirty="0"/>
          </a:p>
        </p:txBody>
      </p:sp>
      <p:sp>
        <p:nvSpPr>
          <p:cNvPr id="46" name="Shape 44"/>
          <p:cNvSpPr/>
          <p:nvPr/>
        </p:nvSpPr>
        <p:spPr>
          <a:xfrm>
            <a:off x="5194221" y="5919073"/>
            <a:ext cx="4241840" cy="1429822"/>
          </a:xfrm>
          <a:prstGeom prst="roundRect">
            <a:avLst>
              <a:gd name="adj" fmla="val 7674"/>
            </a:avLst>
          </a:prstGeom>
          <a:solidFill>
            <a:srgbClr val="FFFFFF"/>
          </a:solidFill>
          <a:ln/>
        </p:spPr>
        <p:txBody>
          <a:bodyPr/>
          <a:lstStyle/>
          <a:p>
            <a:endParaRPr lang="en-US"/>
          </a:p>
        </p:txBody>
      </p:sp>
      <p:sp>
        <p:nvSpPr>
          <p:cNvPr id="47" name="Shape 45"/>
          <p:cNvSpPr/>
          <p:nvPr/>
        </p:nvSpPr>
        <p:spPr>
          <a:xfrm>
            <a:off x="5194221" y="5896213"/>
            <a:ext cx="4241840" cy="91440"/>
          </a:xfrm>
          <a:prstGeom prst="roundRect">
            <a:avLst>
              <a:gd name="adj" fmla="val 26046"/>
            </a:avLst>
          </a:prstGeom>
          <a:solidFill>
            <a:srgbClr val="2150FE"/>
          </a:solidFill>
          <a:ln/>
        </p:spPr>
        <p:txBody>
          <a:bodyPr/>
          <a:lstStyle/>
          <a:p>
            <a:endParaRPr lang="en-US"/>
          </a:p>
        </p:txBody>
      </p:sp>
      <p:sp>
        <p:nvSpPr>
          <p:cNvPr id="48" name="Shape 46"/>
          <p:cNvSpPr/>
          <p:nvPr/>
        </p:nvSpPr>
        <p:spPr>
          <a:xfrm>
            <a:off x="7076956" y="5680948"/>
            <a:ext cx="476250" cy="476250"/>
          </a:xfrm>
          <a:prstGeom prst="roundRect">
            <a:avLst>
              <a:gd name="adj" fmla="val 192000"/>
            </a:avLst>
          </a:prstGeom>
          <a:solidFill>
            <a:srgbClr val="2150FE"/>
          </a:solidFill>
          <a:ln/>
        </p:spPr>
        <p:txBody>
          <a:bodyPr/>
          <a:lstStyle/>
          <a:p>
            <a:endParaRPr lang="en-US"/>
          </a:p>
        </p:txBody>
      </p:sp>
      <p:sp>
        <p:nvSpPr>
          <p:cNvPr id="49" name="Text 47"/>
          <p:cNvSpPr/>
          <p:nvPr/>
        </p:nvSpPr>
        <p:spPr>
          <a:xfrm>
            <a:off x="7219831" y="5800011"/>
            <a:ext cx="190500" cy="238125"/>
          </a:xfrm>
          <a:prstGeom prst="rect">
            <a:avLst/>
          </a:prstGeom>
          <a:noFill/>
          <a:ln/>
        </p:spPr>
        <p:txBody>
          <a:bodyPr wrap="none" lIns="0" tIns="0" rIns="0" bIns="0" rtlCol="0" anchor="t"/>
          <a:lstStyle/>
          <a:p>
            <a:pPr marL="0" indent="0" algn="l">
              <a:lnSpc>
                <a:spcPts val="2400"/>
              </a:lnSpc>
              <a:buNone/>
            </a:pPr>
            <a:r>
              <a:rPr lang="en-US" sz="1500" dirty="0">
                <a:solidFill>
                  <a:srgbClr val="FFFFFF"/>
                </a:solidFill>
                <a:latin typeface="Crimson Pro Semi Bold" pitchFamily="34" charset="0"/>
                <a:ea typeface="Crimson Pro Semi Bold" pitchFamily="34" charset="-122"/>
                <a:cs typeface="Crimson Pro Semi Bold" pitchFamily="34" charset="-120"/>
              </a:rPr>
              <a:t>8</a:t>
            </a:r>
            <a:endParaRPr lang="en-US" sz="1500" dirty="0"/>
          </a:p>
        </p:txBody>
      </p:sp>
      <p:sp>
        <p:nvSpPr>
          <p:cNvPr id="50" name="Text 48"/>
          <p:cNvSpPr/>
          <p:nvPr/>
        </p:nvSpPr>
        <p:spPr>
          <a:xfrm>
            <a:off x="5375791" y="6315908"/>
            <a:ext cx="2165747" cy="248007"/>
          </a:xfrm>
          <a:prstGeom prst="rect">
            <a:avLst/>
          </a:prstGeom>
          <a:noFill/>
          <a:ln/>
        </p:spPr>
        <p:txBody>
          <a:bodyPr wrap="none" lIns="0" tIns="0" rIns="0" bIns="0" rtlCol="0" anchor="t"/>
          <a:lstStyle/>
          <a:p>
            <a:pPr marL="0" indent="0" algn="l">
              <a:lnSpc>
                <a:spcPts val="1950"/>
              </a:lnSpc>
              <a:buNone/>
            </a:pPr>
            <a:r>
              <a:rPr lang="en-US" sz="1550" dirty="0">
                <a:solidFill>
                  <a:srgbClr val="4C4C4D"/>
                </a:solidFill>
                <a:latin typeface="Crimson Pro Semi Bold" pitchFamily="34" charset="0"/>
                <a:ea typeface="Crimson Pro Semi Bold" pitchFamily="34" charset="-122"/>
                <a:cs typeface="Crimson Pro Semi Bold" pitchFamily="34" charset="-120"/>
              </a:rPr>
              <a:t>DiabetesPedigreeFunction</a:t>
            </a:r>
            <a:endParaRPr lang="en-US" sz="1550" dirty="0"/>
          </a:p>
        </p:txBody>
      </p:sp>
      <p:sp>
        <p:nvSpPr>
          <p:cNvPr id="51" name="Text 49"/>
          <p:cNvSpPr/>
          <p:nvPr/>
        </p:nvSpPr>
        <p:spPr>
          <a:xfrm>
            <a:off x="5375791" y="6659166"/>
            <a:ext cx="3878699" cy="508159"/>
          </a:xfrm>
          <a:prstGeom prst="rect">
            <a:avLst/>
          </a:prstGeom>
          <a:noFill/>
          <a:ln/>
        </p:spPr>
        <p:txBody>
          <a:bodyPr wrap="square" lIns="0" tIns="0" rIns="0" bIns="0" rtlCol="0" anchor="t"/>
          <a:lstStyle/>
          <a:p>
            <a:pPr marL="0" indent="0" algn="l">
              <a:lnSpc>
                <a:spcPts val="2000"/>
              </a:lnSpc>
              <a:buNone/>
            </a:pPr>
            <a:r>
              <a:rPr lang="en-US" sz="1250" dirty="0">
                <a:solidFill>
                  <a:srgbClr val="4C4C4D"/>
                </a:solidFill>
                <a:latin typeface="Heebo" pitchFamily="34" charset="0"/>
                <a:ea typeface="Heebo" pitchFamily="34" charset="-122"/>
                <a:cs typeface="Heebo" pitchFamily="34" charset="-120"/>
              </a:rPr>
              <a:t>Tiền sử tiểu đường trong gia đình (hàm điểm hóa mức độ di truyền).</a:t>
            </a:r>
            <a:endParaRPr lang="en-US" sz="1250" dirty="0"/>
          </a:p>
        </p:txBody>
      </p:sp>
      <p:sp>
        <p:nvSpPr>
          <p:cNvPr id="52" name="Shape 50"/>
          <p:cNvSpPr/>
          <p:nvPr/>
        </p:nvSpPr>
        <p:spPr>
          <a:xfrm>
            <a:off x="9594771" y="5919073"/>
            <a:ext cx="4241721" cy="1429822"/>
          </a:xfrm>
          <a:prstGeom prst="roundRect">
            <a:avLst>
              <a:gd name="adj" fmla="val 7674"/>
            </a:avLst>
          </a:prstGeom>
          <a:solidFill>
            <a:srgbClr val="FFFFFF"/>
          </a:solidFill>
          <a:ln/>
        </p:spPr>
        <p:txBody>
          <a:bodyPr/>
          <a:lstStyle/>
          <a:p>
            <a:endParaRPr lang="en-US"/>
          </a:p>
        </p:txBody>
      </p:sp>
      <p:sp>
        <p:nvSpPr>
          <p:cNvPr id="53" name="Shape 51"/>
          <p:cNvSpPr/>
          <p:nvPr/>
        </p:nvSpPr>
        <p:spPr>
          <a:xfrm>
            <a:off x="9594771" y="5896213"/>
            <a:ext cx="4241721" cy="91440"/>
          </a:xfrm>
          <a:prstGeom prst="roundRect">
            <a:avLst>
              <a:gd name="adj" fmla="val 26046"/>
            </a:avLst>
          </a:prstGeom>
          <a:solidFill>
            <a:srgbClr val="2150FE"/>
          </a:solidFill>
          <a:ln/>
        </p:spPr>
        <p:txBody>
          <a:bodyPr/>
          <a:lstStyle/>
          <a:p>
            <a:endParaRPr lang="en-US"/>
          </a:p>
        </p:txBody>
      </p:sp>
      <p:sp>
        <p:nvSpPr>
          <p:cNvPr id="54" name="Shape 52"/>
          <p:cNvSpPr/>
          <p:nvPr/>
        </p:nvSpPr>
        <p:spPr>
          <a:xfrm>
            <a:off x="11477506" y="5680948"/>
            <a:ext cx="476250" cy="476250"/>
          </a:xfrm>
          <a:prstGeom prst="roundRect">
            <a:avLst>
              <a:gd name="adj" fmla="val 192000"/>
            </a:avLst>
          </a:prstGeom>
          <a:solidFill>
            <a:srgbClr val="2150FE"/>
          </a:solidFill>
          <a:ln/>
        </p:spPr>
        <p:txBody>
          <a:bodyPr/>
          <a:lstStyle/>
          <a:p>
            <a:endParaRPr lang="en-US"/>
          </a:p>
        </p:txBody>
      </p:sp>
      <p:sp>
        <p:nvSpPr>
          <p:cNvPr id="55" name="Text 53"/>
          <p:cNvSpPr/>
          <p:nvPr/>
        </p:nvSpPr>
        <p:spPr>
          <a:xfrm>
            <a:off x="11620381" y="5800011"/>
            <a:ext cx="190500" cy="238125"/>
          </a:xfrm>
          <a:prstGeom prst="rect">
            <a:avLst/>
          </a:prstGeom>
          <a:noFill/>
          <a:ln/>
        </p:spPr>
        <p:txBody>
          <a:bodyPr wrap="none" lIns="0" tIns="0" rIns="0" bIns="0" rtlCol="0" anchor="t"/>
          <a:lstStyle/>
          <a:p>
            <a:pPr marL="0" indent="0" algn="l">
              <a:lnSpc>
                <a:spcPts val="2400"/>
              </a:lnSpc>
              <a:buNone/>
            </a:pPr>
            <a:r>
              <a:rPr lang="en-US" sz="1500" dirty="0">
                <a:solidFill>
                  <a:srgbClr val="FFFFFF"/>
                </a:solidFill>
                <a:latin typeface="Crimson Pro Semi Bold" pitchFamily="34" charset="0"/>
                <a:ea typeface="Crimson Pro Semi Bold" pitchFamily="34" charset="-122"/>
                <a:cs typeface="Crimson Pro Semi Bold" pitchFamily="34" charset="-120"/>
              </a:rPr>
              <a:t>9</a:t>
            </a:r>
            <a:endParaRPr lang="en-US" sz="1500" dirty="0"/>
          </a:p>
        </p:txBody>
      </p:sp>
      <p:sp>
        <p:nvSpPr>
          <p:cNvPr id="56" name="Text 54"/>
          <p:cNvSpPr/>
          <p:nvPr/>
        </p:nvSpPr>
        <p:spPr>
          <a:xfrm>
            <a:off x="9776341" y="6315908"/>
            <a:ext cx="1984653" cy="248007"/>
          </a:xfrm>
          <a:prstGeom prst="rect">
            <a:avLst/>
          </a:prstGeom>
          <a:noFill/>
          <a:ln/>
        </p:spPr>
        <p:txBody>
          <a:bodyPr wrap="none" lIns="0" tIns="0" rIns="0" bIns="0" rtlCol="0" anchor="t"/>
          <a:lstStyle/>
          <a:p>
            <a:pPr marL="0" indent="0" algn="l">
              <a:lnSpc>
                <a:spcPts val="1950"/>
              </a:lnSpc>
              <a:buNone/>
            </a:pPr>
            <a:r>
              <a:rPr lang="en-US" sz="1550" dirty="0">
                <a:solidFill>
                  <a:srgbClr val="4C4C4D"/>
                </a:solidFill>
                <a:latin typeface="Crimson Pro Semi Bold" pitchFamily="34" charset="0"/>
                <a:ea typeface="Crimson Pro Semi Bold" pitchFamily="34" charset="-122"/>
                <a:cs typeface="Crimson Pro Semi Bold" pitchFamily="34" charset="-120"/>
              </a:rPr>
              <a:t>Age</a:t>
            </a:r>
            <a:endParaRPr lang="en-US" sz="1550" dirty="0"/>
          </a:p>
        </p:txBody>
      </p:sp>
      <p:sp>
        <p:nvSpPr>
          <p:cNvPr id="57" name="Text 55"/>
          <p:cNvSpPr/>
          <p:nvPr/>
        </p:nvSpPr>
        <p:spPr>
          <a:xfrm>
            <a:off x="9776341" y="6659166"/>
            <a:ext cx="3878580" cy="254079"/>
          </a:xfrm>
          <a:prstGeom prst="rect">
            <a:avLst/>
          </a:prstGeom>
          <a:noFill/>
          <a:ln/>
        </p:spPr>
        <p:txBody>
          <a:bodyPr wrap="none" lIns="0" tIns="0" rIns="0" bIns="0" rtlCol="0" anchor="t"/>
          <a:lstStyle/>
          <a:p>
            <a:pPr marL="0" indent="0" algn="l">
              <a:lnSpc>
                <a:spcPts val="2000"/>
              </a:lnSpc>
              <a:buNone/>
            </a:pPr>
            <a:r>
              <a:rPr lang="en-US" sz="1250" dirty="0">
                <a:solidFill>
                  <a:srgbClr val="4C4C4D"/>
                </a:solidFill>
                <a:latin typeface="Heebo" pitchFamily="34" charset="0"/>
                <a:ea typeface="Heebo" pitchFamily="34" charset="-122"/>
                <a:cs typeface="Heebo" pitchFamily="34" charset="-120"/>
              </a:rPr>
              <a:t>Tuổi (năm) của cá nhân.</a:t>
            </a:r>
            <a:endParaRPr lang="en-US" sz="1250" dirty="0"/>
          </a:p>
        </p:txBody>
      </p:sp>
      <p:pic>
        <p:nvPicPr>
          <p:cNvPr id="58" name="Picture 57" descr="A white background with black and white clouds&#10;&#10;AI-generated content may be incorrect.">
            <a:extLst>
              <a:ext uri="{FF2B5EF4-FFF2-40B4-BE49-F238E27FC236}">
                <a16:creationId xmlns:a16="http://schemas.microsoft.com/office/drawing/2014/main" id="{1FE5784F-93CE-E1BE-3A56-7741FD833564}"/>
              </a:ext>
            </a:extLst>
          </p:cNvPr>
          <p:cNvPicPr>
            <a:picLocks noChangeAspect="1"/>
          </p:cNvPicPr>
          <p:nvPr/>
        </p:nvPicPr>
        <p:blipFill>
          <a:blip r:embed="rId3"/>
          <a:stretch>
            <a:fillRect/>
          </a:stretch>
        </p:blipFill>
        <p:spPr>
          <a:xfrm>
            <a:off x="12393637" y="6466177"/>
            <a:ext cx="2236763" cy="176342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849749"/>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152D47"/>
                </a:solidFill>
                <a:latin typeface="Crimson Pro Semi Bold" pitchFamily="34" charset="0"/>
                <a:ea typeface="Crimson Pro Semi Bold" pitchFamily="34" charset="-122"/>
                <a:cs typeface="Crimson Pro Semi Bold" pitchFamily="34" charset="-120"/>
              </a:rPr>
              <a:t>3. Tiền xử lý dữ liệu</a:t>
            </a:r>
            <a:endParaRPr lang="en-US" sz="2650" dirty="0"/>
          </a:p>
        </p:txBody>
      </p:sp>
      <p:sp>
        <p:nvSpPr>
          <p:cNvPr id="3" name="Shape 1"/>
          <p:cNvSpPr/>
          <p:nvPr/>
        </p:nvSpPr>
        <p:spPr>
          <a:xfrm>
            <a:off x="793790" y="1615202"/>
            <a:ext cx="6436400" cy="1808202"/>
          </a:xfrm>
          <a:prstGeom prst="roundRect">
            <a:avLst>
              <a:gd name="adj" fmla="val 1411"/>
            </a:avLst>
          </a:prstGeom>
          <a:solidFill>
            <a:srgbClr val="FFFFFF"/>
          </a:solidFill>
          <a:ln w="22860">
            <a:solidFill>
              <a:srgbClr val="D8D4D4"/>
            </a:solidFill>
            <a:prstDash val="solid"/>
          </a:ln>
        </p:spPr>
        <p:txBody>
          <a:bodyPr/>
          <a:lstStyle/>
          <a:p>
            <a:endParaRPr lang="en-US"/>
          </a:p>
        </p:txBody>
      </p:sp>
      <p:sp>
        <p:nvSpPr>
          <p:cNvPr id="4" name="Shape 2"/>
          <p:cNvSpPr/>
          <p:nvPr/>
        </p:nvSpPr>
        <p:spPr>
          <a:xfrm>
            <a:off x="816650" y="1638062"/>
            <a:ext cx="6390680" cy="510302"/>
          </a:xfrm>
          <a:prstGeom prst="rect">
            <a:avLst/>
          </a:prstGeom>
          <a:solidFill>
            <a:srgbClr val="F2EEEE"/>
          </a:solidFill>
          <a:ln/>
        </p:spPr>
        <p:txBody>
          <a:bodyPr/>
          <a:lstStyle/>
          <a:p>
            <a:endParaRPr lang="en-US"/>
          </a:p>
        </p:txBody>
      </p:sp>
      <p:sp>
        <p:nvSpPr>
          <p:cNvPr id="5" name="Text 3"/>
          <p:cNvSpPr/>
          <p:nvPr/>
        </p:nvSpPr>
        <p:spPr>
          <a:xfrm>
            <a:off x="3884414" y="1733669"/>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1</a:t>
            </a:r>
            <a:endParaRPr lang="en-US" sz="2000" dirty="0"/>
          </a:p>
        </p:txBody>
      </p:sp>
      <p:sp>
        <p:nvSpPr>
          <p:cNvPr id="6" name="Text 4"/>
          <p:cNvSpPr/>
          <p:nvPr/>
        </p:nvSpPr>
        <p:spPr>
          <a:xfrm>
            <a:off x="986671" y="2318385"/>
            <a:ext cx="2232422" cy="265747"/>
          </a:xfrm>
          <a:prstGeom prst="rect">
            <a:avLst/>
          </a:prstGeom>
          <a:noFill/>
          <a:ln/>
        </p:spPr>
        <p:txBody>
          <a:bodyPr wrap="none" lIns="0" tIns="0" rIns="0" bIns="0" rtlCol="0" anchor="t"/>
          <a:lstStyle/>
          <a:p>
            <a:pPr marL="0" indent="0" algn="l">
              <a:lnSpc>
                <a:spcPts val="2050"/>
              </a:lnSpc>
              <a:buNone/>
            </a:pPr>
            <a:r>
              <a:rPr lang="en-US" sz="1650" dirty="0">
                <a:solidFill>
                  <a:srgbClr val="4C4C4D"/>
                </a:solidFill>
                <a:latin typeface="Crimson Pro Semi Bold" pitchFamily="34" charset="0"/>
                <a:ea typeface="Crimson Pro Semi Bold" pitchFamily="34" charset="-122"/>
                <a:cs typeface="Crimson Pro Semi Bold" pitchFamily="34" charset="-120"/>
              </a:rPr>
              <a:t>Các giá trị 0 không hợp lệ</a:t>
            </a:r>
            <a:endParaRPr lang="en-US" sz="1650" dirty="0"/>
          </a:p>
        </p:txBody>
      </p:sp>
      <p:sp>
        <p:nvSpPr>
          <p:cNvPr id="7" name="Text 5"/>
          <p:cNvSpPr/>
          <p:nvPr/>
        </p:nvSpPr>
        <p:spPr>
          <a:xfrm>
            <a:off x="986671" y="2686169"/>
            <a:ext cx="6050637" cy="544354"/>
          </a:xfrm>
          <a:prstGeom prst="rect">
            <a:avLst/>
          </a:prstGeom>
          <a:noFill/>
          <a:ln/>
        </p:spPr>
        <p:txBody>
          <a:bodyPr wrap="square" lIns="0" tIns="0" rIns="0" bIns="0" rtlCol="0" anchor="t"/>
          <a:lstStyle/>
          <a:p>
            <a:pPr marL="0" indent="0" algn="l">
              <a:lnSpc>
                <a:spcPts val="2100"/>
              </a:lnSpc>
              <a:buNone/>
            </a:pPr>
            <a:r>
              <a:rPr lang="en-US" sz="1300" dirty="0">
                <a:solidFill>
                  <a:srgbClr val="4C4C4D"/>
                </a:solidFill>
                <a:latin typeface="Heebo" pitchFamily="34" charset="0"/>
                <a:ea typeface="Heebo" pitchFamily="34" charset="-122"/>
                <a:cs typeface="Heebo" pitchFamily="34" charset="-120"/>
              </a:rPr>
              <a:t>Xác định các giá trị 0 không hợp lệ trong các thuộc tính quan trọng như Glucose, BloodPressure, SkinThickness, Insulin, BMI.</a:t>
            </a:r>
            <a:endParaRPr lang="en-US" sz="1300" dirty="0"/>
          </a:p>
        </p:txBody>
      </p:sp>
      <p:sp>
        <p:nvSpPr>
          <p:cNvPr id="8" name="Shape 6"/>
          <p:cNvSpPr/>
          <p:nvPr/>
        </p:nvSpPr>
        <p:spPr>
          <a:xfrm>
            <a:off x="7400211" y="1615202"/>
            <a:ext cx="6436400" cy="1808202"/>
          </a:xfrm>
          <a:prstGeom prst="roundRect">
            <a:avLst>
              <a:gd name="adj" fmla="val 1411"/>
            </a:avLst>
          </a:prstGeom>
          <a:solidFill>
            <a:srgbClr val="FFFFFF"/>
          </a:solidFill>
          <a:ln w="22860">
            <a:solidFill>
              <a:srgbClr val="D8D4D4"/>
            </a:solidFill>
            <a:prstDash val="solid"/>
          </a:ln>
        </p:spPr>
        <p:txBody>
          <a:bodyPr/>
          <a:lstStyle/>
          <a:p>
            <a:endParaRPr lang="en-US"/>
          </a:p>
        </p:txBody>
      </p:sp>
      <p:sp>
        <p:nvSpPr>
          <p:cNvPr id="9" name="Shape 7"/>
          <p:cNvSpPr/>
          <p:nvPr/>
        </p:nvSpPr>
        <p:spPr>
          <a:xfrm>
            <a:off x="7423071" y="1638062"/>
            <a:ext cx="6390680" cy="510302"/>
          </a:xfrm>
          <a:prstGeom prst="rect">
            <a:avLst/>
          </a:prstGeom>
          <a:solidFill>
            <a:srgbClr val="F2EEEE"/>
          </a:solidFill>
          <a:ln/>
        </p:spPr>
        <p:txBody>
          <a:bodyPr/>
          <a:lstStyle/>
          <a:p>
            <a:endParaRPr lang="en-US"/>
          </a:p>
        </p:txBody>
      </p:sp>
      <p:sp>
        <p:nvSpPr>
          <p:cNvPr id="10" name="Text 8"/>
          <p:cNvSpPr/>
          <p:nvPr/>
        </p:nvSpPr>
        <p:spPr>
          <a:xfrm>
            <a:off x="10490835" y="1733669"/>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2</a:t>
            </a:r>
            <a:endParaRPr lang="en-US" sz="2000" dirty="0"/>
          </a:p>
        </p:txBody>
      </p:sp>
      <p:sp>
        <p:nvSpPr>
          <p:cNvPr id="11" name="Text 9"/>
          <p:cNvSpPr/>
          <p:nvPr/>
        </p:nvSpPr>
        <p:spPr>
          <a:xfrm>
            <a:off x="7593092" y="2318385"/>
            <a:ext cx="2406372" cy="265747"/>
          </a:xfrm>
          <a:prstGeom prst="rect">
            <a:avLst/>
          </a:prstGeom>
          <a:noFill/>
          <a:ln/>
        </p:spPr>
        <p:txBody>
          <a:bodyPr wrap="none" lIns="0" tIns="0" rIns="0" bIns="0" rtlCol="0" anchor="t"/>
          <a:lstStyle/>
          <a:p>
            <a:pPr marL="0" indent="0" algn="l">
              <a:lnSpc>
                <a:spcPts val="2050"/>
              </a:lnSpc>
              <a:buNone/>
            </a:pPr>
            <a:r>
              <a:rPr lang="en-US" sz="1650" dirty="0">
                <a:solidFill>
                  <a:srgbClr val="4C4C4D"/>
                </a:solidFill>
                <a:latin typeface="Crimson Pro Semi Bold" pitchFamily="34" charset="0"/>
                <a:ea typeface="Crimson Pro Semi Bold" pitchFamily="34" charset="-122"/>
                <a:cs typeface="Crimson Pro Semi Bold" pitchFamily="34" charset="-120"/>
              </a:rPr>
              <a:t>Thay thế giá trị 0 bằng NaN</a:t>
            </a:r>
            <a:endParaRPr lang="en-US" sz="1650" dirty="0"/>
          </a:p>
        </p:txBody>
      </p:sp>
      <p:sp>
        <p:nvSpPr>
          <p:cNvPr id="12" name="Text 10"/>
          <p:cNvSpPr/>
          <p:nvPr/>
        </p:nvSpPr>
        <p:spPr>
          <a:xfrm>
            <a:off x="7593092" y="2686169"/>
            <a:ext cx="6050637" cy="544354"/>
          </a:xfrm>
          <a:prstGeom prst="rect">
            <a:avLst/>
          </a:prstGeom>
          <a:noFill/>
          <a:ln/>
        </p:spPr>
        <p:txBody>
          <a:bodyPr wrap="square" lIns="0" tIns="0" rIns="0" bIns="0" rtlCol="0" anchor="t"/>
          <a:lstStyle/>
          <a:p>
            <a:pPr marL="0" indent="0" algn="l">
              <a:lnSpc>
                <a:spcPts val="2100"/>
              </a:lnSpc>
              <a:buNone/>
            </a:pPr>
            <a:r>
              <a:rPr lang="en-US" sz="1300" dirty="0">
                <a:solidFill>
                  <a:srgbClr val="4C4C4D"/>
                </a:solidFill>
                <a:latin typeface="Heebo" pitchFamily="34" charset="0"/>
                <a:ea typeface="Heebo" pitchFamily="34" charset="-122"/>
                <a:cs typeface="Heebo" pitchFamily="34" charset="-120"/>
              </a:rPr>
              <a:t>Chuyển đổi tất cả các giá trị 0 không hợp lệ thành NaN (Not a Number) để dễ dàng xử lý các giá trị thiếu.</a:t>
            </a:r>
            <a:endParaRPr lang="en-US" sz="1300" dirty="0"/>
          </a:p>
        </p:txBody>
      </p:sp>
      <p:sp>
        <p:nvSpPr>
          <p:cNvPr id="13" name="Shape 11"/>
          <p:cNvSpPr/>
          <p:nvPr/>
        </p:nvSpPr>
        <p:spPr>
          <a:xfrm>
            <a:off x="793790" y="3593425"/>
            <a:ext cx="6436400" cy="1808202"/>
          </a:xfrm>
          <a:prstGeom prst="roundRect">
            <a:avLst>
              <a:gd name="adj" fmla="val 1411"/>
            </a:avLst>
          </a:prstGeom>
          <a:solidFill>
            <a:srgbClr val="FFFFFF"/>
          </a:solidFill>
          <a:ln w="22860">
            <a:solidFill>
              <a:srgbClr val="D8D4D4"/>
            </a:solidFill>
            <a:prstDash val="solid"/>
          </a:ln>
        </p:spPr>
        <p:txBody>
          <a:bodyPr/>
          <a:lstStyle/>
          <a:p>
            <a:endParaRPr lang="en-US"/>
          </a:p>
        </p:txBody>
      </p:sp>
      <p:sp>
        <p:nvSpPr>
          <p:cNvPr id="14" name="Shape 12"/>
          <p:cNvSpPr/>
          <p:nvPr/>
        </p:nvSpPr>
        <p:spPr>
          <a:xfrm>
            <a:off x="816650" y="3616285"/>
            <a:ext cx="6390680" cy="510302"/>
          </a:xfrm>
          <a:prstGeom prst="rect">
            <a:avLst/>
          </a:prstGeom>
          <a:solidFill>
            <a:srgbClr val="F2EEEE"/>
          </a:solidFill>
          <a:ln/>
        </p:spPr>
        <p:txBody>
          <a:bodyPr/>
          <a:lstStyle/>
          <a:p>
            <a:endParaRPr lang="en-US"/>
          </a:p>
        </p:txBody>
      </p:sp>
      <p:sp>
        <p:nvSpPr>
          <p:cNvPr id="15" name="Text 13"/>
          <p:cNvSpPr/>
          <p:nvPr/>
        </p:nvSpPr>
        <p:spPr>
          <a:xfrm>
            <a:off x="3884414" y="3711892"/>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3</a:t>
            </a:r>
            <a:endParaRPr lang="en-US" sz="2000" dirty="0"/>
          </a:p>
        </p:txBody>
      </p:sp>
      <p:sp>
        <p:nvSpPr>
          <p:cNvPr id="16" name="Text 14"/>
          <p:cNvSpPr/>
          <p:nvPr/>
        </p:nvSpPr>
        <p:spPr>
          <a:xfrm>
            <a:off x="986671" y="4296608"/>
            <a:ext cx="2710339" cy="265747"/>
          </a:xfrm>
          <a:prstGeom prst="rect">
            <a:avLst/>
          </a:prstGeom>
          <a:noFill/>
          <a:ln/>
        </p:spPr>
        <p:txBody>
          <a:bodyPr wrap="none" lIns="0" tIns="0" rIns="0" bIns="0" rtlCol="0" anchor="t"/>
          <a:lstStyle/>
          <a:p>
            <a:pPr marL="0" indent="0" algn="l">
              <a:lnSpc>
                <a:spcPts val="2050"/>
              </a:lnSpc>
              <a:buNone/>
            </a:pPr>
            <a:r>
              <a:rPr lang="en-US" sz="1650" dirty="0">
                <a:solidFill>
                  <a:srgbClr val="4C4C4D"/>
                </a:solidFill>
                <a:latin typeface="Crimson Pro Semi Bold" pitchFamily="34" charset="0"/>
                <a:ea typeface="Crimson Pro Semi Bold" pitchFamily="34" charset="-122"/>
                <a:cs typeface="Crimson Pro Semi Bold" pitchFamily="34" charset="-120"/>
              </a:rPr>
              <a:t>Điền giá trị thiếu bằng trung vị</a:t>
            </a:r>
            <a:endParaRPr lang="en-US" sz="1650" dirty="0"/>
          </a:p>
        </p:txBody>
      </p:sp>
      <p:sp>
        <p:nvSpPr>
          <p:cNvPr id="17" name="Text 15"/>
          <p:cNvSpPr/>
          <p:nvPr/>
        </p:nvSpPr>
        <p:spPr>
          <a:xfrm>
            <a:off x="986671" y="4664393"/>
            <a:ext cx="6050637" cy="544354"/>
          </a:xfrm>
          <a:prstGeom prst="rect">
            <a:avLst/>
          </a:prstGeom>
          <a:noFill/>
          <a:ln/>
        </p:spPr>
        <p:txBody>
          <a:bodyPr wrap="square" lIns="0" tIns="0" rIns="0" bIns="0" rtlCol="0" anchor="t"/>
          <a:lstStyle/>
          <a:p>
            <a:pPr marL="0" indent="0" algn="l">
              <a:lnSpc>
                <a:spcPts val="2100"/>
              </a:lnSpc>
              <a:buNone/>
            </a:pPr>
            <a:r>
              <a:rPr lang="en-US" sz="1300" dirty="0">
                <a:solidFill>
                  <a:srgbClr val="4C4C4D"/>
                </a:solidFill>
                <a:latin typeface="Heebo" pitchFamily="34" charset="0"/>
                <a:ea typeface="Heebo" pitchFamily="34" charset="-122"/>
                <a:cs typeface="Heebo" pitchFamily="34" charset="-120"/>
              </a:rPr>
              <a:t>Thay thế các giá trị NaN bằng trung vị (median) của từng thuộc tính để duy trì sự phân bố dữ liệu và giảm thiểu ảnh hưởng của các ngoại lai.</a:t>
            </a:r>
            <a:endParaRPr lang="en-US" sz="1300" dirty="0"/>
          </a:p>
        </p:txBody>
      </p:sp>
      <p:sp>
        <p:nvSpPr>
          <p:cNvPr id="18" name="Shape 16"/>
          <p:cNvSpPr/>
          <p:nvPr/>
        </p:nvSpPr>
        <p:spPr>
          <a:xfrm>
            <a:off x="7400211" y="3593425"/>
            <a:ext cx="6436400" cy="1808202"/>
          </a:xfrm>
          <a:prstGeom prst="roundRect">
            <a:avLst>
              <a:gd name="adj" fmla="val 1411"/>
            </a:avLst>
          </a:prstGeom>
          <a:solidFill>
            <a:srgbClr val="FFFFFF"/>
          </a:solidFill>
          <a:ln w="22860">
            <a:solidFill>
              <a:srgbClr val="D8D4D4"/>
            </a:solidFill>
            <a:prstDash val="solid"/>
          </a:ln>
        </p:spPr>
        <p:txBody>
          <a:bodyPr/>
          <a:lstStyle/>
          <a:p>
            <a:endParaRPr lang="en-US"/>
          </a:p>
        </p:txBody>
      </p:sp>
      <p:sp>
        <p:nvSpPr>
          <p:cNvPr id="19" name="Shape 17"/>
          <p:cNvSpPr/>
          <p:nvPr/>
        </p:nvSpPr>
        <p:spPr>
          <a:xfrm>
            <a:off x="7423071" y="3616285"/>
            <a:ext cx="6390680" cy="510302"/>
          </a:xfrm>
          <a:prstGeom prst="rect">
            <a:avLst/>
          </a:prstGeom>
          <a:solidFill>
            <a:srgbClr val="F2EEEE"/>
          </a:solidFill>
          <a:ln/>
        </p:spPr>
        <p:txBody>
          <a:bodyPr/>
          <a:lstStyle/>
          <a:p>
            <a:endParaRPr lang="en-US"/>
          </a:p>
        </p:txBody>
      </p:sp>
      <p:sp>
        <p:nvSpPr>
          <p:cNvPr id="20" name="Text 18"/>
          <p:cNvSpPr/>
          <p:nvPr/>
        </p:nvSpPr>
        <p:spPr>
          <a:xfrm>
            <a:off x="10490835" y="3711892"/>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4</a:t>
            </a:r>
            <a:endParaRPr lang="en-US" sz="2000" dirty="0"/>
          </a:p>
        </p:txBody>
      </p:sp>
      <p:sp>
        <p:nvSpPr>
          <p:cNvPr id="21" name="Text 19"/>
          <p:cNvSpPr/>
          <p:nvPr/>
        </p:nvSpPr>
        <p:spPr>
          <a:xfrm>
            <a:off x="7593092" y="4296608"/>
            <a:ext cx="2581751" cy="265747"/>
          </a:xfrm>
          <a:prstGeom prst="rect">
            <a:avLst/>
          </a:prstGeom>
          <a:noFill/>
          <a:ln/>
        </p:spPr>
        <p:txBody>
          <a:bodyPr wrap="none" lIns="0" tIns="0" rIns="0" bIns="0" rtlCol="0" anchor="t"/>
          <a:lstStyle/>
          <a:p>
            <a:pPr marL="0" indent="0" algn="l">
              <a:lnSpc>
                <a:spcPts val="2050"/>
              </a:lnSpc>
              <a:buNone/>
            </a:pPr>
            <a:r>
              <a:rPr lang="en-US" sz="1650" dirty="0">
                <a:solidFill>
                  <a:srgbClr val="4C4C4D"/>
                </a:solidFill>
                <a:latin typeface="Crimson Pro Semi Bold" pitchFamily="34" charset="0"/>
                <a:ea typeface="Crimson Pro Semi Bold" pitchFamily="34" charset="-122"/>
                <a:cs typeface="Crimson Pro Semi Bold" pitchFamily="34" charset="-120"/>
              </a:rPr>
              <a:t>Chia tập huấn luyện/kiểm tra</a:t>
            </a:r>
            <a:endParaRPr lang="en-US" sz="1650" dirty="0"/>
          </a:p>
        </p:txBody>
      </p:sp>
      <p:sp>
        <p:nvSpPr>
          <p:cNvPr id="22" name="Text 20"/>
          <p:cNvSpPr/>
          <p:nvPr/>
        </p:nvSpPr>
        <p:spPr>
          <a:xfrm>
            <a:off x="7593092" y="4664393"/>
            <a:ext cx="6050637" cy="544354"/>
          </a:xfrm>
          <a:prstGeom prst="rect">
            <a:avLst/>
          </a:prstGeom>
          <a:noFill/>
          <a:ln/>
        </p:spPr>
        <p:txBody>
          <a:bodyPr wrap="square" lIns="0" tIns="0" rIns="0" bIns="0" rtlCol="0" anchor="t"/>
          <a:lstStyle/>
          <a:p>
            <a:pPr marL="0" indent="0" algn="l">
              <a:lnSpc>
                <a:spcPts val="2100"/>
              </a:lnSpc>
              <a:buNone/>
            </a:pPr>
            <a:r>
              <a:rPr lang="en-US" sz="1300" dirty="0">
                <a:solidFill>
                  <a:srgbClr val="4C4C4D"/>
                </a:solidFill>
                <a:latin typeface="Heebo" pitchFamily="34" charset="0"/>
                <a:ea typeface="Heebo" pitchFamily="34" charset="-122"/>
                <a:cs typeface="Heebo" pitchFamily="34" charset="-120"/>
              </a:rPr>
              <a:t>Phân chia tập dữ liệu thành 80% cho huấn luyện và 20% cho kiểm tra để đảm bảo việc đánh giá mô hình một cách khách quan trên dữ liệu chưa từng thấy.</a:t>
            </a:r>
            <a:endParaRPr lang="en-US" sz="1300" dirty="0"/>
          </a:p>
        </p:txBody>
      </p:sp>
      <p:sp>
        <p:nvSpPr>
          <p:cNvPr id="23" name="Shape 21"/>
          <p:cNvSpPr/>
          <p:nvPr/>
        </p:nvSpPr>
        <p:spPr>
          <a:xfrm>
            <a:off x="793790" y="5571649"/>
            <a:ext cx="6436400" cy="1808202"/>
          </a:xfrm>
          <a:prstGeom prst="roundRect">
            <a:avLst>
              <a:gd name="adj" fmla="val 1411"/>
            </a:avLst>
          </a:prstGeom>
          <a:solidFill>
            <a:srgbClr val="FFFFFF"/>
          </a:solidFill>
          <a:ln w="22860">
            <a:solidFill>
              <a:srgbClr val="D8D4D4"/>
            </a:solidFill>
            <a:prstDash val="solid"/>
          </a:ln>
        </p:spPr>
        <p:txBody>
          <a:bodyPr/>
          <a:lstStyle/>
          <a:p>
            <a:endParaRPr lang="en-US"/>
          </a:p>
        </p:txBody>
      </p:sp>
      <p:sp>
        <p:nvSpPr>
          <p:cNvPr id="24" name="Shape 22"/>
          <p:cNvSpPr/>
          <p:nvPr/>
        </p:nvSpPr>
        <p:spPr>
          <a:xfrm>
            <a:off x="816650" y="5594509"/>
            <a:ext cx="6390680" cy="510302"/>
          </a:xfrm>
          <a:prstGeom prst="rect">
            <a:avLst/>
          </a:prstGeom>
          <a:solidFill>
            <a:srgbClr val="F2EEEE"/>
          </a:solidFill>
          <a:ln/>
        </p:spPr>
        <p:txBody>
          <a:bodyPr/>
          <a:lstStyle/>
          <a:p>
            <a:endParaRPr lang="en-US"/>
          </a:p>
        </p:txBody>
      </p:sp>
      <p:sp>
        <p:nvSpPr>
          <p:cNvPr id="25" name="Text 23"/>
          <p:cNvSpPr/>
          <p:nvPr/>
        </p:nvSpPr>
        <p:spPr>
          <a:xfrm>
            <a:off x="3884414" y="5690116"/>
            <a:ext cx="255151" cy="318968"/>
          </a:xfrm>
          <a:prstGeom prst="rect">
            <a:avLst/>
          </a:prstGeom>
          <a:noFill/>
          <a:ln/>
        </p:spPr>
        <p:txBody>
          <a:bodyPr wrap="none" lIns="0" tIns="0" rIns="0" bIns="0" rtlCol="0" anchor="t"/>
          <a:lstStyle/>
          <a:p>
            <a:pPr marL="0" indent="0" algn="l">
              <a:lnSpc>
                <a:spcPts val="20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5</a:t>
            </a:r>
            <a:endParaRPr lang="en-US" sz="2000" dirty="0"/>
          </a:p>
        </p:txBody>
      </p:sp>
      <p:sp>
        <p:nvSpPr>
          <p:cNvPr id="26" name="Text 24"/>
          <p:cNvSpPr/>
          <p:nvPr/>
        </p:nvSpPr>
        <p:spPr>
          <a:xfrm>
            <a:off x="986671" y="6274832"/>
            <a:ext cx="3286125" cy="265747"/>
          </a:xfrm>
          <a:prstGeom prst="rect">
            <a:avLst/>
          </a:prstGeom>
          <a:noFill/>
          <a:ln/>
        </p:spPr>
        <p:txBody>
          <a:bodyPr wrap="none" lIns="0" tIns="0" rIns="0" bIns="0" rtlCol="0" anchor="t"/>
          <a:lstStyle/>
          <a:p>
            <a:pPr marL="0" indent="0" algn="l">
              <a:lnSpc>
                <a:spcPts val="2050"/>
              </a:lnSpc>
              <a:buNone/>
            </a:pPr>
            <a:r>
              <a:rPr lang="en-US" sz="1650" dirty="0">
                <a:solidFill>
                  <a:srgbClr val="4C4C4D"/>
                </a:solidFill>
                <a:latin typeface="Crimson Pro Semi Bold" pitchFamily="34" charset="0"/>
                <a:ea typeface="Crimson Pro Semi Bold" pitchFamily="34" charset="-122"/>
                <a:cs typeface="Crimson Pro Semi Bold" pitchFamily="34" charset="-120"/>
              </a:rPr>
              <a:t>Chuẩn hóa dữ liệu với StandardScaler</a:t>
            </a:r>
            <a:endParaRPr lang="en-US" sz="1650" dirty="0"/>
          </a:p>
        </p:txBody>
      </p:sp>
      <p:sp>
        <p:nvSpPr>
          <p:cNvPr id="27" name="Text 25"/>
          <p:cNvSpPr/>
          <p:nvPr/>
        </p:nvSpPr>
        <p:spPr>
          <a:xfrm>
            <a:off x="986671" y="6642616"/>
            <a:ext cx="6050637" cy="544354"/>
          </a:xfrm>
          <a:prstGeom prst="rect">
            <a:avLst/>
          </a:prstGeom>
          <a:noFill/>
          <a:ln/>
        </p:spPr>
        <p:txBody>
          <a:bodyPr wrap="square" lIns="0" tIns="0" rIns="0" bIns="0" rtlCol="0" anchor="t"/>
          <a:lstStyle/>
          <a:p>
            <a:pPr marL="0" indent="0" algn="l">
              <a:lnSpc>
                <a:spcPts val="2100"/>
              </a:lnSpc>
              <a:buNone/>
            </a:pPr>
            <a:r>
              <a:rPr lang="en-US" sz="1300" dirty="0">
                <a:solidFill>
                  <a:srgbClr val="4C4C4D"/>
                </a:solidFill>
                <a:latin typeface="Heebo" pitchFamily="34" charset="0"/>
                <a:ea typeface="Heebo" pitchFamily="34" charset="-122"/>
                <a:cs typeface="Heebo" pitchFamily="34" charset="-120"/>
              </a:rPr>
              <a:t>Áp dụng StandardScaler để chuẩn hóa tất cả các thuộc tính, đưa chúng về cùng một thang đo và cải thiện hiệu suất của các thuật toán học máy.</a:t>
            </a:r>
            <a:endParaRPr lang="en-US" sz="1300" dirty="0"/>
          </a:p>
        </p:txBody>
      </p:sp>
      <p:pic>
        <p:nvPicPr>
          <p:cNvPr id="28" name="Picture 27" descr="A white background with black and white clouds&#10;&#10;AI-generated content may be incorrect.">
            <a:extLst>
              <a:ext uri="{FF2B5EF4-FFF2-40B4-BE49-F238E27FC236}">
                <a16:creationId xmlns:a16="http://schemas.microsoft.com/office/drawing/2014/main" id="{81039C46-0C04-DA33-AD4C-2D3BC2660C33}"/>
              </a:ext>
            </a:extLst>
          </p:cNvPr>
          <p:cNvPicPr>
            <a:picLocks noChangeAspect="1"/>
          </p:cNvPicPr>
          <p:nvPr/>
        </p:nvPicPr>
        <p:blipFill>
          <a:blip r:embed="rId3"/>
          <a:stretch>
            <a:fillRect/>
          </a:stretch>
        </p:blipFill>
        <p:spPr>
          <a:xfrm>
            <a:off x="11608875" y="5847485"/>
            <a:ext cx="3021525" cy="238211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640318"/>
            <a:ext cx="4744403" cy="538758"/>
          </a:xfrm>
          <a:prstGeom prst="rect">
            <a:avLst/>
          </a:prstGeom>
          <a:noFill/>
          <a:ln/>
        </p:spPr>
        <p:txBody>
          <a:bodyPr wrap="none" lIns="0" tIns="0" rIns="0" bIns="0" rtlCol="0" anchor="t"/>
          <a:lstStyle/>
          <a:p>
            <a:pPr marL="0" indent="0" algn="l">
              <a:lnSpc>
                <a:spcPts val="4200"/>
              </a:lnSpc>
              <a:buNone/>
            </a:pPr>
            <a:r>
              <a:rPr lang="en-US" sz="3350" dirty="0">
                <a:solidFill>
                  <a:srgbClr val="152D47"/>
                </a:solidFill>
                <a:latin typeface="Crimson Pro Semi Bold" pitchFamily="34" charset="0"/>
                <a:ea typeface="Crimson Pro Semi Bold" pitchFamily="34" charset="-122"/>
                <a:cs typeface="Crimson Pro Semi Bold" pitchFamily="34" charset="-120"/>
              </a:rPr>
              <a:t>4. Khám phá dữ liệu (EDA)</a:t>
            </a:r>
            <a:endParaRPr lang="en-US" sz="3350" dirty="0"/>
          </a:p>
        </p:txBody>
      </p:sp>
      <p:sp>
        <p:nvSpPr>
          <p:cNvPr id="3" name="Text 1"/>
          <p:cNvSpPr/>
          <p:nvPr/>
        </p:nvSpPr>
        <p:spPr>
          <a:xfrm>
            <a:off x="793790" y="1609963"/>
            <a:ext cx="13042821" cy="689610"/>
          </a:xfrm>
          <a:prstGeom prst="rect">
            <a:avLst/>
          </a:prstGeom>
          <a:noFill/>
          <a:ln/>
        </p:spPr>
        <p:txBody>
          <a:bodyPr wrap="square" lIns="0" tIns="0" rIns="0" bIns="0" rtlCol="0" anchor="t"/>
          <a:lstStyle/>
          <a:p>
            <a:pPr marL="0" indent="0" algn="l">
              <a:lnSpc>
                <a:spcPts val="2700"/>
              </a:lnSpc>
              <a:buNone/>
            </a:pPr>
            <a:r>
              <a:rPr lang="en-US" sz="1650" dirty="0">
                <a:solidFill>
                  <a:srgbClr val="4C4C4D"/>
                </a:solidFill>
                <a:latin typeface="Heebo" pitchFamily="34" charset="0"/>
                <a:ea typeface="Heebo" pitchFamily="34" charset="-122"/>
                <a:cs typeface="Heebo" pitchFamily="34" charset="-120"/>
              </a:rPr>
              <a:t>Khám phá dữ liệu (EDA) là bước quan trọng để hiểu rõ cấu trúc, phân bố và mối quan hệ giữa các biến trong bộ dữ liệu Pima Indians Diabetes. Các bước chính trong EDA bao gồm:</a:t>
            </a:r>
            <a:endParaRPr lang="en-US" sz="1650" dirty="0"/>
          </a:p>
        </p:txBody>
      </p:sp>
      <p:pic>
        <p:nvPicPr>
          <p:cNvPr id="4" name="Image 0" descr="preencoded.png"/>
          <p:cNvPicPr>
            <a:picLocks noChangeAspect="1"/>
          </p:cNvPicPr>
          <p:nvPr/>
        </p:nvPicPr>
        <p:blipFill>
          <a:blip r:embed="rId3"/>
          <a:stretch>
            <a:fillRect/>
          </a:stretch>
        </p:blipFill>
        <p:spPr>
          <a:xfrm>
            <a:off x="793790" y="2541984"/>
            <a:ext cx="538639" cy="538639"/>
          </a:xfrm>
          <a:prstGeom prst="rect">
            <a:avLst/>
          </a:prstGeom>
        </p:spPr>
      </p:pic>
      <p:sp>
        <p:nvSpPr>
          <p:cNvPr id="5" name="Text 2"/>
          <p:cNvSpPr/>
          <p:nvPr/>
        </p:nvSpPr>
        <p:spPr>
          <a:xfrm>
            <a:off x="793790" y="3349943"/>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4C4C4D"/>
                </a:solidFill>
                <a:latin typeface="Crimson Pro Semi Bold" pitchFamily="34" charset="0"/>
                <a:ea typeface="Crimson Pro Semi Bold" pitchFamily="34" charset="-122"/>
                <a:cs typeface="Crimson Pro Semi Bold" pitchFamily="34" charset="-120"/>
              </a:rPr>
              <a:t>Thống kê mô tả</a:t>
            </a:r>
            <a:endParaRPr lang="en-US" sz="2100" dirty="0"/>
          </a:p>
        </p:txBody>
      </p:sp>
      <p:sp>
        <p:nvSpPr>
          <p:cNvPr id="6" name="Text 3"/>
          <p:cNvSpPr/>
          <p:nvPr/>
        </p:nvSpPr>
        <p:spPr>
          <a:xfrm>
            <a:off x="793790" y="3815715"/>
            <a:ext cx="6386751" cy="1034415"/>
          </a:xfrm>
          <a:prstGeom prst="rect">
            <a:avLst/>
          </a:prstGeom>
          <a:noFill/>
          <a:ln/>
        </p:spPr>
        <p:txBody>
          <a:bodyPr wrap="square" lIns="0" tIns="0" rIns="0" bIns="0" rtlCol="0" anchor="t"/>
          <a:lstStyle/>
          <a:p>
            <a:pPr marL="0" indent="0" algn="l">
              <a:lnSpc>
                <a:spcPts val="2700"/>
              </a:lnSpc>
              <a:buNone/>
            </a:pPr>
            <a:r>
              <a:rPr lang="en-US" sz="1650" dirty="0">
                <a:solidFill>
                  <a:srgbClr val="4C4C4D"/>
                </a:solidFill>
                <a:latin typeface="Heebo" pitchFamily="34" charset="0"/>
                <a:ea typeface="Heebo" pitchFamily="34" charset="-122"/>
                <a:cs typeface="Heebo" pitchFamily="34" charset="-120"/>
              </a:rPr>
              <a:t>Tính toán các chỉ số thống kê cơ bản như trung bình, độ lệch chuẩn, giá trị nhỏ nhất (min) và lớn nhất (max) cho từng biến để nắm bắt đặc điểm tổng quan của dữ liệu.</a:t>
            </a:r>
            <a:endParaRPr lang="en-US" sz="1650" dirty="0"/>
          </a:p>
        </p:txBody>
      </p:sp>
      <p:pic>
        <p:nvPicPr>
          <p:cNvPr id="7" name="Image 1" descr="preencoded.png"/>
          <p:cNvPicPr>
            <a:picLocks noChangeAspect="1"/>
          </p:cNvPicPr>
          <p:nvPr/>
        </p:nvPicPr>
        <p:blipFill>
          <a:blip r:embed="rId4"/>
          <a:stretch>
            <a:fillRect/>
          </a:stretch>
        </p:blipFill>
        <p:spPr>
          <a:xfrm>
            <a:off x="7449860" y="2541984"/>
            <a:ext cx="538639" cy="538639"/>
          </a:xfrm>
          <a:prstGeom prst="rect">
            <a:avLst/>
          </a:prstGeom>
        </p:spPr>
      </p:pic>
      <p:sp>
        <p:nvSpPr>
          <p:cNvPr id="8" name="Text 4"/>
          <p:cNvSpPr/>
          <p:nvPr/>
        </p:nvSpPr>
        <p:spPr>
          <a:xfrm>
            <a:off x="7449860" y="3349943"/>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4C4C4D"/>
                </a:solidFill>
                <a:latin typeface="Crimson Pro Semi Bold" pitchFamily="34" charset="0"/>
                <a:ea typeface="Crimson Pro Semi Bold" pitchFamily="34" charset="-122"/>
                <a:cs typeface="Crimson Pro Semi Bold" pitchFamily="34" charset="-120"/>
              </a:rPr>
              <a:t>Phân bố dữ liệu</a:t>
            </a:r>
            <a:endParaRPr lang="en-US" sz="2100" dirty="0"/>
          </a:p>
        </p:txBody>
      </p:sp>
      <p:sp>
        <p:nvSpPr>
          <p:cNvPr id="9" name="Text 5"/>
          <p:cNvSpPr/>
          <p:nvPr/>
        </p:nvSpPr>
        <p:spPr>
          <a:xfrm>
            <a:off x="7449860" y="3815715"/>
            <a:ext cx="6386751" cy="1034415"/>
          </a:xfrm>
          <a:prstGeom prst="rect">
            <a:avLst/>
          </a:prstGeom>
          <a:noFill/>
          <a:ln/>
        </p:spPr>
        <p:txBody>
          <a:bodyPr wrap="square" lIns="0" tIns="0" rIns="0" bIns="0" rtlCol="0" anchor="t"/>
          <a:lstStyle/>
          <a:p>
            <a:pPr marL="0" indent="0" algn="l">
              <a:lnSpc>
                <a:spcPts val="2700"/>
              </a:lnSpc>
              <a:buNone/>
            </a:pPr>
            <a:r>
              <a:rPr lang="en-US" sz="1650" dirty="0">
                <a:solidFill>
                  <a:srgbClr val="4C4C4D"/>
                </a:solidFill>
                <a:latin typeface="Heebo" pitchFamily="34" charset="0"/>
                <a:ea typeface="Heebo" pitchFamily="34" charset="-122"/>
                <a:cs typeface="Heebo" pitchFamily="34" charset="-120"/>
              </a:rPr>
              <a:t>Phân tích phân bố của từng biến, đặc biệt chú ý đến </a:t>
            </a:r>
            <a:r>
              <a:rPr lang="en-US" sz="1650" b="1" dirty="0">
                <a:solidFill>
                  <a:srgbClr val="4C4C4D"/>
                </a:solidFill>
                <a:latin typeface="Heebo" pitchFamily="34" charset="0"/>
                <a:ea typeface="Heebo" pitchFamily="34" charset="-122"/>
                <a:cs typeface="Heebo" pitchFamily="34" charset="-120"/>
              </a:rPr>
              <a:t>Glucose</a:t>
            </a:r>
            <a:r>
              <a:rPr lang="en-US" sz="1650" dirty="0">
                <a:solidFill>
                  <a:srgbClr val="4C4C4D"/>
                </a:solidFill>
                <a:latin typeface="Heebo" pitchFamily="34" charset="0"/>
                <a:ea typeface="Heebo" pitchFamily="34" charset="-122"/>
                <a:cs typeface="Heebo" pitchFamily="34" charset="-120"/>
              </a:rPr>
              <a:t> và </a:t>
            </a:r>
            <a:r>
              <a:rPr lang="en-US" sz="1650" b="1" dirty="0">
                <a:solidFill>
                  <a:srgbClr val="4C4C4D"/>
                </a:solidFill>
                <a:latin typeface="Heebo" pitchFamily="34" charset="0"/>
                <a:ea typeface="Heebo" pitchFamily="34" charset="-122"/>
                <a:cs typeface="Heebo" pitchFamily="34" charset="-120"/>
              </a:rPr>
              <a:t>BMI</a:t>
            </a:r>
            <a:r>
              <a:rPr lang="en-US" sz="1650" dirty="0">
                <a:solidFill>
                  <a:srgbClr val="4C4C4D"/>
                </a:solidFill>
                <a:latin typeface="Heebo" pitchFamily="34" charset="0"/>
                <a:ea typeface="Heebo" pitchFamily="34" charset="-122"/>
                <a:cs typeface="Heebo" pitchFamily="34" charset="-120"/>
              </a:rPr>
              <a:t> vì chúng có liên quan mạnh đến </a:t>
            </a:r>
            <a:r>
              <a:rPr lang="en-US" sz="1650" b="1" dirty="0">
                <a:solidFill>
                  <a:srgbClr val="4C4C4D"/>
                </a:solidFill>
                <a:latin typeface="Heebo" pitchFamily="34" charset="0"/>
                <a:ea typeface="Heebo" pitchFamily="34" charset="-122"/>
                <a:cs typeface="Heebo" pitchFamily="34" charset="-120"/>
              </a:rPr>
              <a:t>Outcome</a:t>
            </a:r>
            <a:r>
              <a:rPr lang="en-US" sz="1650" dirty="0">
                <a:solidFill>
                  <a:srgbClr val="4C4C4D"/>
                </a:solidFill>
                <a:latin typeface="Heebo" pitchFamily="34" charset="0"/>
                <a:ea typeface="Heebo" pitchFamily="34" charset="-122"/>
                <a:cs typeface="Heebo" pitchFamily="34" charset="-120"/>
              </a:rPr>
              <a:t>. </a:t>
            </a:r>
            <a:r>
              <a:rPr lang="en-US" sz="1650" b="1" dirty="0">
                <a:solidFill>
                  <a:srgbClr val="4C4C4D"/>
                </a:solidFill>
                <a:latin typeface="Heebo" pitchFamily="34" charset="0"/>
                <a:ea typeface="Heebo" pitchFamily="34" charset="-122"/>
                <a:cs typeface="Heebo" pitchFamily="34" charset="-120"/>
              </a:rPr>
              <a:t>Tuổi</a:t>
            </a:r>
            <a:r>
              <a:rPr lang="en-US" sz="1650" dirty="0">
                <a:solidFill>
                  <a:srgbClr val="4C4C4D"/>
                </a:solidFill>
                <a:latin typeface="Heebo" pitchFamily="34" charset="0"/>
                <a:ea typeface="Heebo" pitchFamily="34" charset="-122"/>
                <a:cs typeface="Heebo" pitchFamily="34" charset="-120"/>
              </a:rPr>
              <a:t> và </a:t>
            </a:r>
            <a:r>
              <a:rPr lang="en-US" sz="1650" b="1" dirty="0">
                <a:solidFill>
                  <a:srgbClr val="4C4C4D"/>
                </a:solidFill>
                <a:latin typeface="Heebo" pitchFamily="34" charset="0"/>
                <a:ea typeface="Heebo" pitchFamily="34" charset="-122"/>
                <a:cs typeface="Heebo" pitchFamily="34" charset="-120"/>
              </a:rPr>
              <a:t>số lần mang thai</a:t>
            </a:r>
            <a:r>
              <a:rPr lang="en-US" sz="1650" dirty="0">
                <a:solidFill>
                  <a:srgbClr val="4C4C4D"/>
                </a:solidFill>
                <a:latin typeface="Heebo" pitchFamily="34" charset="0"/>
                <a:ea typeface="Heebo" pitchFamily="34" charset="-122"/>
                <a:cs typeface="Heebo" pitchFamily="34" charset="-120"/>
              </a:rPr>
              <a:t> cũng cho thấy ảnh hưởng đáng kể.</a:t>
            </a:r>
            <a:endParaRPr lang="en-US" sz="1650" dirty="0"/>
          </a:p>
        </p:txBody>
      </p:sp>
      <p:pic>
        <p:nvPicPr>
          <p:cNvPr id="10" name="Image 2" descr="preencoded.png"/>
          <p:cNvPicPr>
            <a:picLocks noChangeAspect="1"/>
          </p:cNvPicPr>
          <p:nvPr/>
        </p:nvPicPr>
        <p:blipFill>
          <a:blip r:embed="rId5"/>
          <a:stretch>
            <a:fillRect/>
          </a:stretch>
        </p:blipFill>
        <p:spPr>
          <a:xfrm>
            <a:off x="793790" y="5281017"/>
            <a:ext cx="538639" cy="538639"/>
          </a:xfrm>
          <a:prstGeom prst="rect">
            <a:avLst/>
          </a:prstGeom>
        </p:spPr>
      </p:pic>
      <p:sp>
        <p:nvSpPr>
          <p:cNvPr id="11" name="Text 6"/>
          <p:cNvSpPr/>
          <p:nvPr/>
        </p:nvSpPr>
        <p:spPr>
          <a:xfrm>
            <a:off x="793790" y="6088975"/>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4C4C4D"/>
                </a:solidFill>
                <a:latin typeface="Crimson Pro Semi Bold" pitchFamily="34" charset="0"/>
                <a:ea typeface="Crimson Pro Semi Bold" pitchFamily="34" charset="-122"/>
                <a:cs typeface="Crimson Pro Semi Bold" pitchFamily="34" charset="-120"/>
              </a:rPr>
              <a:t>Tương quan</a:t>
            </a:r>
            <a:endParaRPr lang="en-US" sz="2100" dirty="0"/>
          </a:p>
        </p:txBody>
      </p:sp>
      <p:sp>
        <p:nvSpPr>
          <p:cNvPr id="12" name="Text 7"/>
          <p:cNvSpPr/>
          <p:nvPr/>
        </p:nvSpPr>
        <p:spPr>
          <a:xfrm>
            <a:off x="793790" y="6554748"/>
            <a:ext cx="6386751" cy="689610"/>
          </a:xfrm>
          <a:prstGeom prst="rect">
            <a:avLst/>
          </a:prstGeom>
          <a:noFill/>
          <a:ln/>
        </p:spPr>
        <p:txBody>
          <a:bodyPr wrap="square" lIns="0" tIns="0" rIns="0" bIns="0" rtlCol="0" anchor="t"/>
          <a:lstStyle/>
          <a:p>
            <a:pPr marL="0" indent="0" algn="l">
              <a:lnSpc>
                <a:spcPts val="2700"/>
              </a:lnSpc>
              <a:buNone/>
            </a:pPr>
            <a:r>
              <a:rPr lang="en-US" sz="1650" dirty="0">
                <a:solidFill>
                  <a:srgbClr val="4C4C4D"/>
                </a:solidFill>
                <a:latin typeface="Heebo" pitchFamily="34" charset="0"/>
                <a:ea typeface="Heebo" pitchFamily="34" charset="-122"/>
                <a:cs typeface="Heebo" pitchFamily="34" charset="-120"/>
              </a:rPr>
              <a:t>Sử dụng biểu đồ tương quan (Correlation heatmap) để đánh giá mức độ và chiều hướng mối quan hệ giữa các biến.</a:t>
            </a:r>
            <a:endParaRPr lang="en-US" sz="1650" dirty="0"/>
          </a:p>
        </p:txBody>
      </p:sp>
      <p:pic>
        <p:nvPicPr>
          <p:cNvPr id="13" name="Image 3" descr="preencoded.png"/>
          <p:cNvPicPr>
            <a:picLocks noChangeAspect="1"/>
          </p:cNvPicPr>
          <p:nvPr/>
        </p:nvPicPr>
        <p:blipFill>
          <a:blip r:embed="rId6"/>
          <a:stretch>
            <a:fillRect/>
          </a:stretch>
        </p:blipFill>
        <p:spPr>
          <a:xfrm>
            <a:off x="7449860" y="5281017"/>
            <a:ext cx="538639" cy="538639"/>
          </a:xfrm>
          <a:prstGeom prst="rect">
            <a:avLst/>
          </a:prstGeom>
        </p:spPr>
      </p:pic>
      <p:sp>
        <p:nvSpPr>
          <p:cNvPr id="14" name="Text 8"/>
          <p:cNvSpPr/>
          <p:nvPr/>
        </p:nvSpPr>
        <p:spPr>
          <a:xfrm>
            <a:off x="7449860" y="6088975"/>
            <a:ext cx="2693551" cy="336590"/>
          </a:xfrm>
          <a:prstGeom prst="rect">
            <a:avLst/>
          </a:prstGeom>
          <a:noFill/>
          <a:ln/>
        </p:spPr>
        <p:txBody>
          <a:bodyPr wrap="none" lIns="0" tIns="0" rIns="0" bIns="0" rtlCol="0" anchor="t"/>
          <a:lstStyle/>
          <a:p>
            <a:pPr marL="0" indent="0" algn="l">
              <a:lnSpc>
                <a:spcPts val="2650"/>
              </a:lnSpc>
              <a:buNone/>
            </a:pPr>
            <a:r>
              <a:rPr lang="en-US" sz="2100" dirty="0">
                <a:solidFill>
                  <a:srgbClr val="4C4C4D"/>
                </a:solidFill>
                <a:latin typeface="Crimson Pro Semi Bold" pitchFamily="34" charset="0"/>
                <a:ea typeface="Crimson Pro Semi Bold" pitchFamily="34" charset="-122"/>
                <a:cs typeface="Crimson Pro Semi Bold" pitchFamily="34" charset="-120"/>
              </a:rPr>
              <a:t>Biểu đồ trực quan</a:t>
            </a:r>
            <a:endParaRPr lang="en-US" sz="2100" dirty="0"/>
          </a:p>
        </p:txBody>
      </p:sp>
      <p:sp>
        <p:nvSpPr>
          <p:cNvPr id="15" name="Text 9"/>
          <p:cNvSpPr/>
          <p:nvPr/>
        </p:nvSpPr>
        <p:spPr>
          <a:xfrm>
            <a:off x="7449860" y="6554748"/>
            <a:ext cx="6386751" cy="1034415"/>
          </a:xfrm>
          <a:prstGeom prst="rect">
            <a:avLst/>
          </a:prstGeom>
          <a:noFill/>
          <a:ln/>
        </p:spPr>
        <p:txBody>
          <a:bodyPr wrap="square" lIns="0" tIns="0" rIns="0" bIns="0" rtlCol="0" anchor="t"/>
          <a:lstStyle/>
          <a:p>
            <a:pPr marL="0" indent="0" algn="l">
              <a:lnSpc>
                <a:spcPts val="2700"/>
              </a:lnSpc>
              <a:buNone/>
            </a:pPr>
            <a:r>
              <a:rPr lang="en-US" sz="1650" dirty="0">
                <a:solidFill>
                  <a:srgbClr val="4C4C4D"/>
                </a:solidFill>
                <a:latin typeface="Heebo" pitchFamily="34" charset="0"/>
                <a:ea typeface="Heebo" pitchFamily="34" charset="-122"/>
                <a:cs typeface="Heebo" pitchFamily="34" charset="-120"/>
              </a:rPr>
              <a:t>Xây dựng các biểu đồ như Histogram cho từng biến để xem xét phân bố, Heatmap ma trận tương quan để hiển thị mối quan hệ, và Boxplot để phát hiện các giá trị ngoại lệ.</a:t>
            </a:r>
            <a:endParaRPr lang="en-US" sz="1650" dirty="0"/>
          </a:p>
        </p:txBody>
      </p:sp>
      <p:pic>
        <p:nvPicPr>
          <p:cNvPr id="16" name="Picture 15" descr="A white background with black and white clouds&#10;&#10;AI-generated content may be incorrect.">
            <a:extLst>
              <a:ext uri="{FF2B5EF4-FFF2-40B4-BE49-F238E27FC236}">
                <a16:creationId xmlns:a16="http://schemas.microsoft.com/office/drawing/2014/main" id="{765EE25D-DF31-DAF4-FFA5-6936E08EBFAD}"/>
              </a:ext>
            </a:extLst>
          </p:cNvPr>
          <p:cNvPicPr>
            <a:picLocks noChangeAspect="1"/>
          </p:cNvPicPr>
          <p:nvPr/>
        </p:nvPicPr>
        <p:blipFill>
          <a:blip r:embed="rId7"/>
          <a:stretch>
            <a:fillRect/>
          </a:stretch>
        </p:blipFill>
        <p:spPr>
          <a:xfrm>
            <a:off x="12717194" y="7371471"/>
            <a:ext cx="1913206" cy="85812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68906" y="604123"/>
            <a:ext cx="4394121" cy="549235"/>
          </a:xfrm>
          <a:prstGeom prst="rect">
            <a:avLst/>
          </a:prstGeom>
          <a:noFill/>
          <a:ln/>
        </p:spPr>
        <p:txBody>
          <a:bodyPr wrap="none" lIns="0" tIns="0" rIns="0" bIns="0" rtlCol="0" anchor="t"/>
          <a:lstStyle/>
          <a:p>
            <a:pPr marL="0" indent="0" algn="l">
              <a:lnSpc>
                <a:spcPts val="4300"/>
              </a:lnSpc>
              <a:buNone/>
            </a:pPr>
            <a:r>
              <a:rPr lang="en-US" sz="3450" dirty="0">
                <a:solidFill>
                  <a:srgbClr val="152D47"/>
                </a:solidFill>
                <a:latin typeface="Crimson Pro Semi Bold" pitchFamily="34" charset="0"/>
                <a:ea typeface="Crimson Pro Semi Bold" pitchFamily="34" charset="-122"/>
                <a:cs typeface="Crimson Pro Semi Bold" pitchFamily="34" charset="-120"/>
              </a:rPr>
              <a:t>5. Phân tích tương quan</a:t>
            </a:r>
            <a:endParaRPr lang="en-US" sz="3450" dirty="0"/>
          </a:p>
        </p:txBody>
      </p:sp>
      <p:pic>
        <p:nvPicPr>
          <p:cNvPr id="3" name="Image 0" descr="preencoded.png"/>
          <p:cNvPicPr>
            <a:picLocks noChangeAspect="1"/>
          </p:cNvPicPr>
          <p:nvPr/>
        </p:nvPicPr>
        <p:blipFill>
          <a:blip r:embed="rId3"/>
          <a:stretch>
            <a:fillRect/>
          </a:stretch>
        </p:blipFill>
        <p:spPr>
          <a:xfrm>
            <a:off x="768906" y="1647468"/>
            <a:ext cx="6278285" cy="5014317"/>
          </a:xfrm>
          <a:prstGeom prst="rect">
            <a:avLst/>
          </a:prstGeom>
        </p:spPr>
      </p:pic>
      <p:sp>
        <p:nvSpPr>
          <p:cNvPr id="4" name="Text 1"/>
          <p:cNvSpPr/>
          <p:nvPr/>
        </p:nvSpPr>
        <p:spPr>
          <a:xfrm>
            <a:off x="768906" y="6908840"/>
            <a:ext cx="6278285" cy="702945"/>
          </a:xfrm>
          <a:prstGeom prst="rect">
            <a:avLst/>
          </a:prstGeom>
          <a:noFill/>
          <a:ln/>
        </p:spPr>
        <p:txBody>
          <a:bodyPr wrap="square" lIns="0" tIns="0" rIns="0" bIns="0" rtlCol="0" anchor="t"/>
          <a:lstStyle/>
          <a:p>
            <a:pPr marL="0" indent="0" algn="ctr">
              <a:lnSpc>
                <a:spcPts val="2750"/>
              </a:lnSpc>
              <a:buNone/>
            </a:pPr>
            <a:r>
              <a:rPr lang="en-US" sz="1700" dirty="0">
                <a:solidFill>
                  <a:srgbClr val="4C4C4D"/>
                </a:solidFill>
                <a:latin typeface="Heebo" pitchFamily="34" charset="0"/>
                <a:ea typeface="Heebo" pitchFamily="34" charset="-122"/>
                <a:cs typeface="Heebo" pitchFamily="34" charset="-120"/>
              </a:rPr>
              <a:t>Biểu đồ heatmap thể hiện ma trận tương quan giữa các biến trong bộ dữ liệu Pima Indians Diabetes.</a:t>
            </a:r>
            <a:endParaRPr lang="en-US" sz="1700" dirty="0"/>
          </a:p>
        </p:txBody>
      </p:sp>
      <p:sp>
        <p:nvSpPr>
          <p:cNvPr id="5" name="Text 2"/>
          <p:cNvSpPr/>
          <p:nvPr/>
        </p:nvSpPr>
        <p:spPr>
          <a:xfrm>
            <a:off x="7590830" y="1598057"/>
            <a:ext cx="6278285" cy="351472"/>
          </a:xfrm>
          <a:prstGeom prst="rect">
            <a:avLst/>
          </a:prstGeom>
          <a:noFill/>
          <a:ln/>
        </p:spPr>
        <p:txBody>
          <a:bodyPr wrap="non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Phân tích ma trận tương quan chi tiết:</a:t>
            </a:r>
            <a:endParaRPr lang="en-US" sz="1700" dirty="0"/>
          </a:p>
        </p:txBody>
      </p:sp>
      <p:sp>
        <p:nvSpPr>
          <p:cNvPr id="6" name="Text 3"/>
          <p:cNvSpPr/>
          <p:nvPr/>
        </p:nvSpPr>
        <p:spPr>
          <a:xfrm>
            <a:off x="7590830" y="2169200"/>
            <a:ext cx="3306008" cy="343257"/>
          </a:xfrm>
          <a:prstGeom prst="rect">
            <a:avLst/>
          </a:prstGeom>
          <a:noFill/>
          <a:ln/>
        </p:spPr>
        <p:txBody>
          <a:bodyPr wrap="none" lIns="0" tIns="0" rIns="0" bIns="0" rtlCol="0" anchor="t"/>
          <a:lstStyle/>
          <a:p>
            <a:pPr marL="0" indent="0" algn="l">
              <a:lnSpc>
                <a:spcPts val="2700"/>
              </a:lnSpc>
              <a:buNone/>
            </a:pPr>
            <a:r>
              <a:rPr lang="en-US" sz="2150" dirty="0">
                <a:solidFill>
                  <a:srgbClr val="152D47"/>
                </a:solidFill>
                <a:latin typeface="Crimson Pro Semi Bold" pitchFamily="34" charset="0"/>
                <a:ea typeface="Crimson Pro Semi Bold" pitchFamily="34" charset="-122"/>
                <a:cs typeface="Crimson Pro Semi Bold" pitchFamily="34" charset="-120"/>
              </a:rPr>
              <a:t>Những phát hiện quan trọng:</a:t>
            </a:r>
            <a:endParaRPr lang="en-US" sz="2150" dirty="0"/>
          </a:p>
        </p:txBody>
      </p:sp>
      <p:sp>
        <p:nvSpPr>
          <p:cNvPr id="7" name="Text 4"/>
          <p:cNvSpPr/>
          <p:nvPr/>
        </p:nvSpPr>
        <p:spPr>
          <a:xfrm>
            <a:off x="7590830" y="2732127"/>
            <a:ext cx="6278285" cy="351472"/>
          </a:xfrm>
          <a:prstGeom prst="rect">
            <a:avLst/>
          </a:prstGeom>
          <a:noFill/>
          <a:ln/>
        </p:spPr>
        <p:txBody>
          <a:bodyPr wrap="none" lIns="0" tIns="0" rIns="0" bIns="0" rtlCol="0" anchor="t"/>
          <a:lstStyle/>
          <a:p>
            <a:pPr marL="342900" indent="-342900" algn="l">
              <a:lnSpc>
                <a:spcPts val="2750"/>
              </a:lnSpc>
              <a:buSzPct val="100000"/>
              <a:buChar char="•"/>
            </a:pPr>
            <a:r>
              <a:rPr lang="en-US" sz="1700" b="1" dirty="0">
                <a:solidFill>
                  <a:srgbClr val="4C4C4D"/>
                </a:solidFill>
                <a:highlight>
                  <a:srgbClr val="ADF0FF"/>
                </a:highlight>
                <a:latin typeface="Heebo" pitchFamily="34" charset="0"/>
                <a:ea typeface="Heebo" pitchFamily="34" charset="-122"/>
                <a:cs typeface="Heebo" pitchFamily="34" charset="-120"/>
              </a:rPr>
              <a:t>Glucose</a:t>
            </a:r>
            <a:r>
              <a:rPr lang="en-US" sz="1700" dirty="0">
                <a:solidFill>
                  <a:srgbClr val="4C4C4D"/>
                </a:solidFill>
                <a:latin typeface="Heebo" pitchFamily="34" charset="0"/>
                <a:ea typeface="Heebo" pitchFamily="34" charset="-122"/>
                <a:cs typeface="Heebo" pitchFamily="34" charset="-120"/>
              </a:rPr>
              <a:t> có tương quan mạnh nhất với </a:t>
            </a:r>
            <a:r>
              <a:rPr lang="en-US" sz="1700" b="1" dirty="0">
                <a:solidFill>
                  <a:srgbClr val="4C4C4D"/>
                </a:solidFill>
                <a:highlight>
                  <a:srgbClr val="ADF0FF"/>
                </a:highlight>
                <a:latin typeface="Heebo" pitchFamily="34" charset="0"/>
                <a:ea typeface="Heebo" pitchFamily="34" charset="-122"/>
                <a:cs typeface="Heebo" pitchFamily="34" charset="-120"/>
              </a:rPr>
              <a:t>Outcome (0.47)</a:t>
            </a:r>
            <a:endParaRPr lang="en-US" sz="1700" dirty="0"/>
          </a:p>
        </p:txBody>
      </p:sp>
      <p:sp>
        <p:nvSpPr>
          <p:cNvPr id="8" name="Text 5"/>
          <p:cNvSpPr/>
          <p:nvPr/>
        </p:nvSpPr>
        <p:spPr>
          <a:xfrm>
            <a:off x="7590830" y="3160395"/>
            <a:ext cx="6278285" cy="351472"/>
          </a:xfrm>
          <a:prstGeom prst="rect">
            <a:avLst/>
          </a:prstGeom>
          <a:noFill/>
          <a:ln/>
        </p:spPr>
        <p:txBody>
          <a:bodyPr wrap="none" lIns="0" tIns="0" rIns="0" bIns="0" rtlCol="0" anchor="t"/>
          <a:lstStyle/>
          <a:p>
            <a:pPr marL="342900" indent="-342900" algn="l">
              <a:lnSpc>
                <a:spcPts val="2750"/>
              </a:lnSpc>
              <a:buSzPct val="100000"/>
              <a:buChar char="•"/>
            </a:pPr>
            <a:r>
              <a:rPr lang="en-US" sz="1700" b="1" dirty="0">
                <a:solidFill>
                  <a:srgbClr val="4C4C4D"/>
                </a:solidFill>
                <a:highlight>
                  <a:srgbClr val="ADF0FF"/>
                </a:highlight>
                <a:latin typeface="Heebo" pitchFamily="34" charset="0"/>
                <a:ea typeface="Heebo" pitchFamily="34" charset="-122"/>
                <a:cs typeface="Heebo" pitchFamily="34" charset="-120"/>
              </a:rPr>
              <a:t>BMI</a:t>
            </a:r>
            <a:r>
              <a:rPr lang="en-US" sz="1700" dirty="0">
                <a:solidFill>
                  <a:srgbClr val="4C4C4D"/>
                </a:solidFill>
                <a:latin typeface="Heebo" pitchFamily="34" charset="0"/>
                <a:ea typeface="Heebo" pitchFamily="34" charset="-122"/>
                <a:cs typeface="Heebo" pitchFamily="34" charset="-120"/>
              </a:rPr>
              <a:t> cũng có mối quan hệ đáng kể </a:t>
            </a:r>
            <a:r>
              <a:rPr lang="en-US" sz="1700" b="1" dirty="0">
                <a:solidFill>
                  <a:srgbClr val="4C4C4D"/>
                </a:solidFill>
                <a:highlight>
                  <a:srgbClr val="ADF0FF"/>
                </a:highlight>
                <a:latin typeface="Heebo" pitchFamily="34" charset="0"/>
                <a:ea typeface="Heebo" pitchFamily="34" charset="-122"/>
                <a:cs typeface="Heebo" pitchFamily="34" charset="-120"/>
              </a:rPr>
              <a:t>(0.29)</a:t>
            </a:r>
            <a:endParaRPr lang="en-US" sz="1700" dirty="0"/>
          </a:p>
        </p:txBody>
      </p:sp>
      <p:sp>
        <p:nvSpPr>
          <p:cNvPr id="9" name="Text 6"/>
          <p:cNvSpPr/>
          <p:nvPr/>
        </p:nvSpPr>
        <p:spPr>
          <a:xfrm>
            <a:off x="7590830" y="3588663"/>
            <a:ext cx="6278285" cy="351472"/>
          </a:xfrm>
          <a:prstGeom prst="rect">
            <a:avLst/>
          </a:prstGeom>
          <a:noFill/>
          <a:ln/>
        </p:spPr>
        <p:txBody>
          <a:bodyPr wrap="none" lIns="0" tIns="0" rIns="0" bIns="0" rtlCol="0" anchor="t"/>
          <a:lstStyle/>
          <a:p>
            <a:pPr marL="342900" indent="-342900" algn="l">
              <a:lnSpc>
                <a:spcPts val="2750"/>
              </a:lnSpc>
              <a:buSzPct val="100000"/>
              <a:buChar char="•"/>
            </a:pPr>
            <a:r>
              <a:rPr lang="en-US" sz="1700" b="1" dirty="0">
                <a:solidFill>
                  <a:srgbClr val="4C4C4D"/>
                </a:solidFill>
                <a:highlight>
                  <a:srgbClr val="ADF0FF"/>
                </a:highlight>
                <a:latin typeface="Heebo" pitchFamily="34" charset="0"/>
                <a:ea typeface="Heebo" pitchFamily="34" charset="-122"/>
                <a:cs typeface="Heebo" pitchFamily="34" charset="-120"/>
              </a:rPr>
              <a:t>Age</a:t>
            </a:r>
            <a:r>
              <a:rPr lang="en-US" sz="1700" dirty="0">
                <a:solidFill>
                  <a:srgbClr val="4C4C4D"/>
                </a:solidFill>
                <a:latin typeface="Heebo" pitchFamily="34" charset="0"/>
                <a:ea typeface="Heebo" pitchFamily="34" charset="-122"/>
                <a:cs typeface="Heebo" pitchFamily="34" charset="-120"/>
              </a:rPr>
              <a:t> và </a:t>
            </a:r>
            <a:r>
              <a:rPr lang="en-US" sz="1700" b="1" dirty="0">
                <a:solidFill>
                  <a:srgbClr val="4C4C4D"/>
                </a:solidFill>
                <a:highlight>
                  <a:srgbClr val="ADF0FF"/>
                </a:highlight>
                <a:latin typeface="Heebo" pitchFamily="34" charset="0"/>
                <a:ea typeface="Heebo" pitchFamily="34" charset="-122"/>
                <a:cs typeface="Heebo" pitchFamily="34" charset="-120"/>
              </a:rPr>
              <a:t>Pregnancies</a:t>
            </a:r>
            <a:r>
              <a:rPr lang="en-US" sz="1700" dirty="0">
                <a:solidFill>
                  <a:srgbClr val="4C4C4D"/>
                </a:solidFill>
                <a:latin typeface="Heebo" pitchFamily="34" charset="0"/>
                <a:ea typeface="Heebo" pitchFamily="34" charset="-122"/>
                <a:cs typeface="Heebo" pitchFamily="34" charset="-120"/>
              </a:rPr>
              <a:t> có ảnh hưởng vừa phải</a:t>
            </a:r>
            <a:endParaRPr lang="en-US" sz="1700" dirty="0"/>
          </a:p>
        </p:txBody>
      </p:sp>
      <p:sp>
        <p:nvSpPr>
          <p:cNvPr id="10" name="Text 7"/>
          <p:cNvSpPr/>
          <p:nvPr/>
        </p:nvSpPr>
        <p:spPr>
          <a:xfrm>
            <a:off x="7590830" y="4016931"/>
            <a:ext cx="6278285" cy="351472"/>
          </a:xfrm>
          <a:prstGeom prst="rect">
            <a:avLst/>
          </a:prstGeom>
          <a:noFill/>
          <a:ln/>
        </p:spPr>
        <p:txBody>
          <a:bodyPr wrap="none" lIns="0" tIns="0" rIns="0" bIns="0" rtlCol="0" anchor="t"/>
          <a:lstStyle/>
          <a:p>
            <a:pPr marL="342900" indent="-342900" algn="l">
              <a:lnSpc>
                <a:spcPts val="2750"/>
              </a:lnSpc>
              <a:buSzPct val="100000"/>
              <a:buChar char="•"/>
            </a:pPr>
            <a:r>
              <a:rPr lang="en-US" sz="1700" b="1" dirty="0">
                <a:solidFill>
                  <a:srgbClr val="4C4C4D"/>
                </a:solidFill>
                <a:highlight>
                  <a:srgbClr val="ADF0FF"/>
                </a:highlight>
                <a:latin typeface="Heebo" pitchFamily="34" charset="0"/>
                <a:ea typeface="Heebo" pitchFamily="34" charset="-122"/>
                <a:cs typeface="Heebo" pitchFamily="34" charset="-120"/>
              </a:rPr>
              <a:t>Ít tương quan giữa các biến độc lập</a:t>
            </a:r>
            <a:endParaRPr lang="en-US" sz="1700" dirty="0"/>
          </a:p>
        </p:txBody>
      </p:sp>
      <p:sp>
        <p:nvSpPr>
          <p:cNvPr id="11" name="Text 8"/>
          <p:cNvSpPr/>
          <p:nvPr/>
        </p:nvSpPr>
        <p:spPr>
          <a:xfrm>
            <a:off x="7590830" y="4566047"/>
            <a:ext cx="6278285" cy="1054418"/>
          </a:xfrm>
          <a:prstGeom prst="rect">
            <a:avLst/>
          </a:prstGeom>
          <a:noFill/>
          <a:ln/>
        </p:spPr>
        <p:txBody>
          <a:bodyPr wrap="square" lIns="0" tIns="0" rIns="0" bIns="0" rtlCol="0" anchor="t"/>
          <a:lstStyle/>
          <a:p>
            <a:pPr marL="0" indent="0" algn="l">
              <a:lnSpc>
                <a:spcPts val="2750"/>
              </a:lnSpc>
              <a:buNone/>
            </a:pPr>
            <a:r>
              <a:rPr lang="en-US" sz="1700" dirty="0">
                <a:solidFill>
                  <a:srgbClr val="4C4C4D"/>
                </a:solidFill>
                <a:latin typeface="Heebo" pitchFamily="34" charset="0"/>
                <a:ea typeface="Heebo" pitchFamily="34" charset="-122"/>
                <a:cs typeface="Heebo" pitchFamily="34" charset="-120"/>
              </a:rPr>
              <a:t>Ý nghĩa của các phát hiện này cho việc xây dựng mô hình: Các biến có tương quan mạnh với Outcome sẽ được ưu tiên trong việc lựa chọn đặc trưng và xây dựng các thuật toán dự đoán.</a:t>
            </a:r>
            <a:endParaRPr lang="en-US" sz="1700" dirty="0"/>
          </a:p>
        </p:txBody>
      </p:sp>
      <p:pic>
        <p:nvPicPr>
          <p:cNvPr id="12" name="Picture 11" descr="A white background with black and white clouds&#10;&#10;AI-generated content may be incorrect.">
            <a:extLst>
              <a:ext uri="{FF2B5EF4-FFF2-40B4-BE49-F238E27FC236}">
                <a16:creationId xmlns:a16="http://schemas.microsoft.com/office/drawing/2014/main" id="{9A855EA9-D4AA-84C3-0C20-39C46C57B570}"/>
              </a:ext>
            </a:extLst>
          </p:cNvPr>
          <p:cNvPicPr>
            <a:picLocks noChangeAspect="1"/>
          </p:cNvPicPr>
          <p:nvPr/>
        </p:nvPicPr>
        <p:blipFill>
          <a:blip r:embed="rId4"/>
          <a:stretch>
            <a:fillRect/>
          </a:stretch>
        </p:blipFill>
        <p:spPr>
          <a:xfrm>
            <a:off x="11608875" y="5847485"/>
            <a:ext cx="3021525" cy="238211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93790" y="1636990"/>
            <a:ext cx="4536519" cy="566976"/>
          </a:xfrm>
          <a:prstGeom prst="rect">
            <a:avLst/>
          </a:prstGeom>
          <a:noFill/>
          <a:ln/>
        </p:spPr>
        <p:txBody>
          <a:bodyPr wrap="none" lIns="0" tIns="0" rIns="0" bIns="0" rtlCol="0" anchor="t"/>
          <a:lstStyle/>
          <a:p>
            <a:pPr marL="0" indent="0" algn="l">
              <a:lnSpc>
                <a:spcPts val="4450"/>
              </a:lnSpc>
              <a:buNone/>
            </a:pPr>
            <a:r>
              <a:rPr lang="en-US" sz="3550" dirty="0">
                <a:solidFill>
                  <a:srgbClr val="152D47"/>
                </a:solidFill>
                <a:latin typeface="Crimson Pro Semi Bold" pitchFamily="34" charset="0"/>
                <a:ea typeface="Crimson Pro Semi Bold" pitchFamily="34" charset="-122"/>
                <a:cs typeface="Crimson Pro Semi Bold" pitchFamily="34" charset="-120"/>
              </a:rPr>
              <a:t>6. Các mô hình áp dụng</a:t>
            </a:r>
            <a:endParaRPr lang="en-US" sz="3550" dirty="0"/>
          </a:p>
        </p:txBody>
      </p:sp>
      <p:sp>
        <p:nvSpPr>
          <p:cNvPr id="3" name="Shape 1"/>
          <p:cNvSpPr/>
          <p:nvPr/>
        </p:nvSpPr>
        <p:spPr>
          <a:xfrm>
            <a:off x="793790" y="2657594"/>
            <a:ext cx="4196358" cy="1367909"/>
          </a:xfrm>
          <a:prstGeom prst="roundRect">
            <a:avLst>
              <a:gd name="adj" fmla="val 10695"/>
            </a:avLst>
          </a:prstGeom>
          <a:solidFill>
            <a:srgbClr val="FFFFFF"/>
          </a:solidFill>
          <a:ln w="30480">
            <a:solidFill>
              <a:srgbClr val="D8D4D4"/>
            </a:solidFill>
            <a:prstDash val="solid"/>
          </a:ln>
        </p:spPr>
        <p:txBody>
          <a:bodyPr/>
          <a:lstStyle/>
          <a:p>
            <a:endParaRPr lang="en-US"/>
          </a:p>
        </p:txBody>
      </p:sp>
      <p:sp>
        <p:nvSpPr>
          <p:cNvPr id="4" name="Shape 2"/>
          <p:cNvSpPr/>
          <p:nvPr/>
        </p:nvSpPr>
        <p:spPr>
          <a:xfrm>
            <a:off x="763310" y="2657594"/>
            <a:ext cx="121920" cy="1367909"/>
          </a:xfrm>
          <a:prstGeom prst="roundRect">
            <a:avLst>
              <a:gd name="adj" fmla="val 27907"/>
            </a:avLst>
          </a:prstGeom>
          <a:solidFill>
            <a:srgbClr val="2150FE"/>
          </a:solidFill>
          <a:ln/>
        </p:spPr>
        <p:txBody>
          <a:bodyPr/>
          <a:lstStyle/>
          <a:p>
            <a:endParaRPr lang="en-US"/>
          </a:p>
        </p:txBody>
      </p:sp>
      <p:sp>
        <p:nvSpPr>
          <p:cNvPr id="5" name="Text 3"/>
          <p:cNvSpPr/>
          <p:nvPr/>
        </p:nvSpPr>
        <p:spPr>
          <a:xfrm>
            <a:off x="1142524" y="291488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Logistic Regression</a:t>
            </a:r>
            <a:endParaRPr lang="en-US" sz="2200" dirty="0"/>
          </a:p>
        </p:txBody>
      </p:sp>
      <p:sp>
        <p:nvSpPr>
          <p:cNvPr id="6" name="Text 4"/>
          <p:cNvSpPr/>
          <p:nvPr/>
        </p:nvSpPr>
        <p:spPr>
          <a:xfrm>
            <a:off x="1142524" y="3405307"/>
            <a:ext cx="3590330"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Mô hình tuyến tính cơ bản.</a:t>
            </a:r>
            <a:endParaRPr lang="en-US" sz="1750" dirty="0"/>
          </a:p>
        </p:txBody>
      </p:sp>
      <p:sp>
        <p:nvSpPr>
          <p:cNvPr id="7" name="Shape 5"/>
          <p:cNvSpPr/>
          <p:nvPr/>
        </p:nvSpPr>
        <p:spPr>
          <a:xfrm>
            <a:off x="5216962" y="2657594"/>
            <a:ext cx="4196358" cy="1367909"/>
          </a:xfrm>
          <a:prstGeom prst="roundRect">
            <a:avLst>
              <a:gd name="adj" fmla="val 10695"/>
            </a:avLst>
          </a:prstGeom>
          <a:solidFill>
            <a:srgbClr val="FFFFFF"/>
          </a:solidFill>
          <a:ln w="30480">
            <a:solidFill>
              <a:srgbClr val="D8D4D4"/>
            </a:solidFill>
            <a:prstDash val="solid"/>
          </a:ln>
        </p:spPr>
        <p:txBody>
          <a:bodyPr/>
          <a:lstStyle/>
          <a:p>
            <a:endParaRPr lang="en-US"/>
          </a:p>
        </p:txBody>
      </p:sp>
      <p:sp>
        <p:nvSpPr>
          <p:cNvPr id="8" name="Shape 6"/>
          <p:cNvSpPr/>
          <p:nvPr/>
        </p:nvSpPr>
        <p:spPr>
          <a:xfrm>
            <a:off x="5186482" y="2657594"/>
            <a:ext cx="121920" cy="1367909"/>
          </a:xfrm>
          <a:prstGeom prst="roundRect">
            <a:avLst>
              <a:gd name="adj" fmla="val 27907"/>
            </a:avLst>
          </a:prstGeom>
          <a:solidFill>
            <a:srgbClr val="2150FE"/>
          </a:solidFill>
          <a:ln/>
        </p:spPr>
        <p:txBody>
          <a:bodyPr/>
          <a:lstStyle/>
          <a:p>
            <a:endParaRPr lang="en-US"/>
          </a:p>
        </p:txBody>
      </p:sp>
      <p:sp>
        <p:nvSpPr>
          <p:cNvPr id="9" name="Text 7"/>
          <p:cNvSpPr/>
          <p:nvPr/>
        </p:nvSpPr>
        <p:spPr>
          <a:xfrm>
            <a:off x="5565696" y="291488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Decision Tree</a:t>
            </a:r>
            <a:endParaRPr lang="en-US" sz="2200" dirty="0"/>
          </a:p>
        </p:txBody>
      </p:sp>
      <p:sp>
        <p:nvSpPr>
          <p:cNvPr id="10" name="Text 8"/>
          <p:cNvSpPr/>
          <p:nvPr/>
        </p:nvSpPr>
        <p:spPr>
          <a:xfrm>
            <a:off x="5565696" y="3405307"/>
            <a:ext cx="3590330"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Cây quyết định phân loại.</a:t>
            </a:r>
            <a:endParaRPr lang="en-US" sz="1750" dirty="0"/>
          </a:p>
        </p:txBody>
      </p:sp>
      <p:sp>
        <p:nvSpPr>
          <p:cNvPr id="11" name="Shape 9"/>
          <p:cNvSpPr/>
          <p:nvPr/>
        </p:nvSpPr>
        <p:spPr>
          <a:xfrm>
            <a:off x="9640133" y="2657594"/>
            <a:ext cx="4196358" cy="1367909"/>
          </a:xfrm>
          <a:prstGeom prst="roundRect">
            <a:avLst>
              <a:gd name="adj" fmla="val 10695"/>
            </a:avLst>
          </a:prstGeom>
          <a:solidFill>
            <a:srgbClr val="FFFFFF"/>
          </a:solidFill>
          <a:ln w="30480">
            <a:solidFill>
              <a:srgbClr val="D8D4D4"/>
            </a:solidFill>
            <a:prstDash val="solid"/>
          </a:ln>
        </p:spPr>
        <p:txBody>
          <a:bodyPr/>
          <a:lstStyle/>
          <a:p>
            <a:endParaRPr lang="en-US"/>
          </a:p>
        </p:txBody>
      </p:sp>
      <p:sp>
        <p:nvSpPr>
          <p:cNvPr id="12" name="Shape 10"/>
          <p:cNvSpPr/>
          <p:nvPr/>
        </p:nvSpPr>
        <p:spPr>
          <a:xfrm>
            <a:off x="9609653" y="2657594"/>
            <a:ext cx="121920" cy="1367909"/>
          </a:xfrm>
          <a:prstGeom prst="roundRect">
            <a:avLst>
              <a:gd name="adj" fmla="val 27907"/>
            </a:avLst>
          </a:prstGeom>
          <a:solidFill>
            <a:srgbClr val="2150FE"/>
          </a:solidFill>
          <a:ln/>
        </p:spPr>
        <p:txBody>
          <a:bodyPr/>
          <a:lstStyle/>
          <a:p>
            <a:endParaRPr lang="en-US"/>
          </a:p>
        </p:txBody>
      </p:sp>
      <p:sp>
        <p:nvSpPr>
          <p:cNvPr id="13" name="Text 11"/>
          <p:cNvSpPr/>
          <p:nvPr/>
        </p:nvSpPr>
        <p:spPr>
          <a:xfrm>
            <a:off x="9988868" y="2914888"/>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Random Forest</a:t>
            </a:r>
            <a:endParaRPr lang="en-US" sz="2200" dirty="0"/>
          </a:p>
        </p:txBody>
      </p:sp>
      <p:sp>
        <p:nvSpPr>
          <p:cNvPr id="14" name="Text 12"/>
          <p:cNvSpPr/>
          <p:nvPr/>
        </p:nvSpPr>
        <p:spPr>
          <a:xfrm>
            <a:off x="9988868" y="3405307"/>
            <a:ext cx="3590330"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Tập hợp nhiều cây quyết định.</a:t>
            </a:r>
            <a:endParaRPr lang="en-US" sz="1750" dirty="0"/>
          </a:p>
        </p:txBody>
      </p:sp>
      <p:sp>
        <p:nvSpPr>
          <p:cNvPr id="15" name="Shape 13"/>
          <p:cNvSpPr/>
          <p:nvPr/>
        </p:nvSpPr>
        <p:spPr>
          <a:xfrm>
            <a:off x="793790" y="4252317"/>
            <a:ext cx="4196358" cy="1722239"/>
          </a:xfrm>
          <a:prstGeom prst="roundRect">
            <a:avLst>
              <a:gd name="adj" fmla="val 8495"/>
            </a:avLst>
          </a:prstGeom>
          <a:solidFill>
            <a:srgbClr val="FFFFFF"/>
          </a:solidFill>
          <a:ln w="30480">
            <a:solidFill>
              <a:srgbClr val="D8D4D4"/>
            </a:solidFill>
            <a:prstDash val="solid"/>
          </a:ln>
        </p:spPr>
        <p:txBody>
          <a:bodyPr/>
          <a:lstStyle/>
          <a:p>
            <a:endParaRPr lang="en-US"/>
          </a:p>
        </p:txBody>
      </p:sp>
      <p:sp>
        <p:nvSpPr>
          <p:cNvPr id="16" name="Shape 14"/>
          <p:cNvSpPr/>
          <p:nvPr/>
        </p:nvSpPr>
        <p:spPr>
          <a:xfrm>
            <a:off x="763310" y="4252317"/>
            <a:ext cx="121920" cy="1722239"/>
          </a:xfrm>
          <a:prstGeom prst="roundRect">
            <a:avLst>
              <a:gd name="adj" fmla="val 27907"/>
            </a:avLst>
          </a:prstGeom>
          <a:solidFill>
            <a:srgbClr val="2150FE"/>
          </a:solidFill>
          <a:ln/>
        </p:spPr>
        <p:txBody>
          <a:bodyPr/>
          <a:lstStyle/>
          <a:p>
            <a:endParaRPr lang="en-US"/>
          </a:p>
        </p:txBody>
      </p:sp>
      <p:sp>
        <p:nvSpPr>
          <p:cNvPr id="17" name="Text 15"/>
          <p:cNvSpPr/>
          <p:nvPr/>
        </p:nvSpPr>
        <p:spPr>
          <a:xfrm>
            <a:off x="1142524" y="4509611"/>
            <a:ext cx="3249692" cy="354330"/>
          </a:xfrm>
          <a:prstGeom prst="rect">
            <a:avLst/>
          </a:prstGeom>
          <a:noFill/>
          <a:ln/>
        </p:spPr>
        <p:txBody>
          <a:bodyPr wrap="non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KNN (K-Nearest Neighbors)</a:t>
            </a:r>
            <a:endParaRPr lang="en-US" sz="2200" dirty="0"/>
          </a:p>
        </p:txBody>
      </p:sp>
      <p:sp>
        <p:nvSpPr>
          <p:cNvPr id="18" name="Text 16"/>
          <p:cNvSpPr/>
          <p:nvPr/>
        </p:nvSpPr>
        <p:spPr>
          <a:xfrm>
            <a:off x="1142524" y="5000030"/>
            <a:ext cx="3590330"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Phân loại dựa trên khoảng cách.</a:t>
            </a:r>
            <a:endParaRPr lang="en-US" sz="1750" dirty="0"/>
          </a:p>
        </p:txBody>
      </p:sp>
      <p:sp>
        <p:nvSpPr>
          <p:cNvPr id="19" name="Shape 17"/>
          <p:cNvSpPr/>
          <p:nvPr/>
        </p:nvSpPr>
        <p:spPr>
          <a:xfrm>
            <a:off x="5216962" y="4252317"/>
            <a:ext cx="4196358" cy="1722239"/>
          </a:xfrm>
          <a:prstGeom prst="roundRect">
            <a:avLst>
              <a:gd name="adj" fmla="val 8495"/>
            </a:avLst>
          </a:prstGeom>
          <a:solidFill>
            <a:srgbClr val="FFFFFF"/>
          </a:solidFill>
          <a:ln w="30480">
            <a:solidFill>
              <a:srgbClr val="D8D4D4"/>
            </a:solidFill>
            <a:prstDash val="solid"/>
          </a:ln>
        </p:spPr>
        <p:txBody>
          <a:bodyPr/>
          <a:lstStyle/>
          <a:p>
            <a:endParaRPr lang="en-US"/>
          </a:p>
        </p:txBody>
      </p:sp>
      <p:sp>
        <p:nvSpPr>
          <p:cNvPr id="20" name="Shape 18"/>
          <p:cNvSpPr/>
          <p:nvPr/>
        </p:nvSpPr>
        <p:spPr>
          <a:xfrm>
            <a:off x="5186482" y="4252317"/>
            <a:ext cx="121920" cy="1722239"/>
          </a:xfrm>
          <a:prstGeom prst="roundRect">
            <a:avLst>
              <a:gd name="adj" fmla="val 27907"/>
            </a:avLst>
          </a:prstGeom>
          <a:solidFill>
            <a:srgbClr val="2150FE"/>
          </a:solidFill>
          <a:ln/>
        </p:spPr>
        <p:txBody>
          <a:bodyPr/>
          <a:lstStyle/>
          <a:p>
            <a:endParaRPr lang="en-US"/>
          </a:p>
        </p:txBody>
      </p:sp>
      <p:sp>
        <p:nvSpPr>
          <p:cNvPr id="21" name="Text 19"/>
          <p:cNvSpPr/>
          <p:nvPr/>
        </p:nvSpPr>
        <p:spPr>
          <a:xfrm>
            <a:off x="5565696" y="4509611"/>
            <a:ext cx="3590330" cy="708660"/>
          </a:xfrm>
          <a:prstGeom prst="rect">
            <a:avLst/>
          </a:prstGeom>
          <a:noFill/>
          <a:ln/>
        </p:spPr>
        <p:txBody>
          <a:bodyPr wrap="square" lIns="0" tIns="0" rIns="0" bIns="0" rtlCol="0" anchor="t"/>
          <a:lstStyle/>
          <a:p>
            <a:pPr marL="0" indent="0" algn="l">
              <a:lnSpc>
                <a:spcPts val="2750"/>
              </a:lnSpc>
              <a:buNone/>
            </a:pPr>
            <a:r>
              <a:rPr lang="en-US" sz="2200" dirty="0">
                <a:solidFill>
                  <a:srgbClr val="4C4C4D"/>
                </a:solidFill>
                <a:latin typeface="Crimson Pro Semi Bold" pitchFamily="34" charset="0"/>
                <a:ea typeface="Crimson Pro Semi Bold" pitchFamily="34" charset="-122"/>
                <a:cs typeface="Crimson Pro Semi Bold" pitchFamily="34" charset="-120"/>
              </a:rPr>
              <a:t>SVM (Support Vector Machine)</a:t>
            </a:r>
            <a:endParaRPr lang="en-US" sz="2200" dirty="0"/>
          </a:p>
        </p:txBody>
      </p:sp>
      <p:sp>
        <p:nvSpPr>
          <p:cNvPr id="22" name="Text 20"/>
          <p:cNvSpPr/>
          <p:nvPr/>
        </p:nvSpPr>
        <p:spPr>
          <a:xfrm>
            <a:off x="5565696" y="5354360"/>
            <a:ext cx="3590330"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Tối ưu siêu phẳng phân tách.</a:t>
            </a:r>
            <a:endParaRPr lang="en-US" sz="1750" dirty="0"/>
          </a:p>
        </p:txBody>
      </p:sp>
      <p:sp>
        <p:nvSpPr>
          <p:cNvPr id="23" name="Text 21"/>
          <p:cNvSpPr/>
          <p:nvPr/>
        </p:nvSpPr>
        <p:spPr>
          <a:xfrm>
            <a:off x="793790" y="6229707"/>
            <a:ext cx="13042821" cy="362903"/>
          </a:xfrm>
          <a:prstGeom prst="rect">
            <a:avLst/>
          </a:prstGeom>
          <a:noFill/>
          <a:ln/>
        </p:spPr>
        <p:txBody>
          <a:bodyPr wrap="none" lIns="0" tIns="0" rIns="0" bIns="0" rtlCol="0" anchor="t"/>
          <a:lstStyle/>
          <a:p>
            <a:pPr marL="0" indent="0" algn="l">
              <a:lnSpc>
                <a:spcPts val="2850"/>
              </a:lnSpc>
              <a:buNone/>
            </a:pPr>
            <a:r>
              <a:rPr lang="en-US" sz="1750" dirty="0">
                <a:solidFill>
                  <a:srgbClr val="4C4C4D"/>
                </a:solidFill>
                <a:latin typeface="Heebo" pitchFamily="34" charset="0"/>
                <a:ea typeface="Heebo" pitchFamily="34" charset="-122"/>
                <a:cs typeface="Heebo" pitchFamily="34" charset="-120"/>
              </a:rPr>
              <a:t>So sánh hiệu năng dựa trên Accuracy, Precision, Recall, F1-score.</a:t>
            </a:r>
            <a:endParaRPr lang="en-US" sz="1750" dirty="0"/>
          </a:p>
        </p:txBody>
      </p:sp>
      <p:pic>
        <p:nvPicPr>
          <p:cNvPr id="24" name="Picture 23" descr="A white background with black and white clouds&#10;&#10;AI-generated content may be incorrect.">
            <a:extLst>
              <a:ext uri="{FF2B5EF4-FFF2-40B4-BE49-F238E27FC236}">
                <a16:creationId xmlns:a16="http://schemas.microsoft.com/office/drawing/2014/main" id="{592310FB-5E7F-0D3C-7A91-DE0F25118594}"/>
              </a:ext>
            </a:extLst>
          </p:cNvPr>
          <p:cNvPicPr>
            <a:picLocks noChangeAspect="1"/>
          </p:cNvPicPr>
          <p:nvPr/>
        </p:nvPicPr>
        <p:blipFill>
          <a:blip r:embed="rId3"/>
          <a:stretch>
            <a:fillRect/>
          </a:stretch>
        </p:blipFill>
        <p:spPr>
          <a:xfrm>
            <a:off x="11608875" y="5847485"/>
            <a:ext cx="3021525" cy="238211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746760"/>
            <a:ext cx="4082891" cy="510302"/>
          </a:xfrm>
          <a:prstGeom prst="rect">
            <a:avLst/>
          </a:prstGeom>
          <a:noFill/>
          <a:ln/>
        </p:spPr>
        <p:txBody>
          <a:bodyPr wrap="none" lIns="0" tIns="0" rIns="0" bIns="0" rtlCol="0" anchor="t"/>
          <a:lstStyle/>
          <a:p>
            <a:pPr marL="0" indent="0" algn="l">
              <a:lnSpc>
                <a:spcPts val="4000"/>
              </a:lnSpc>
              <a:buNone/>
            </a:pPr>
            <a:r>
              <a:rPr lang="en-US" sz="3200" dirty="0">
                <a:solidFill>
                  <a:srgbClr val="152D47"/>
                </a:solidFill>
                <a:latin typeface="Crimson Pro Semi Bold" pitchFamily="34" charset="0"/>
                <a:ea typeface="Crimson Pro Semi Bold" pitchFamily="34" charset="-122"/>
                <a:cs typeface="Crimson Pro Semi Bold" pitchFamily="34" charset="-120"/>
              </a:rPr>
              <a:t>7. Kết quả đánh giá</a:t>
            </a:r>
            <a:endParaRPr lang="en-US" sz="3200" dirty="0"/>
          </a:p>
        </p:txBody>
      </p:sp>
      <p:sp>
        <p:nvSpPr>
          <p:cNvPr id="3" name="Text 1"/>
          <p:cNvSpPr/>
          <p:nvPr/>
        </p:nvSpPr>
        <p:spPr>
          <a:xfrm>
            <a:off x="793790" y="1665327"/>
            <a:ext cx="13042821" cy="326708"/>
          </a:xfrm>
          <a:prstGeom prst="rect">
            <a:avLst/>
          </a:prstGeom>
          <a:noFill/>
          <a:ln/>
        </p:spPr>
        <p:txBody>
          <a:bodyPr wrap="non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Sau khi huấn luyện và kiểm tra các mô hình trên tập dữ liệu đã tiền xử lý, chúng tôi đã thu được các kết quả về độ chính xác (Accuracy) như sau:</a:t>
            </a:r>
            <a:endParaRPr lang="en-US" sz="1600" dirty="0"/>
          </a:p>
        </p:txBody>
      </p:sp>
      <p:sp>
        <p:nvSpPr>
          <p:cNvPr id="4" name="Shape 2"/>
          <p:cNvSpPr/>
          <p:nvPr/>
        </p:nvSpPr>
        <p:spPr>
          <a:xfrm>
            <a:off x="793790" y="2323624"/>
            <a:ext cx="3589258" cy="255151"/>
          </a:xfrm>
          <a:prstGeom prst="roundRect">
            <a:avLst>
              <a:gd name="adj" fmla="val 12001"/>
            </a:avLst>
          </a:prstGeom>
          <a:solidFill>
            <a:srgbClr val="F2EEEE"/>
          </a:solidFill>
          <a:ln/>
        </p:spPr>
        <p:txBody>
          <a:bodyPr/>
          <a:lstStyle/>
          <a:p>
            <a:endParaRPr lang="en-US"/>
          </a:p>
        </p:txBody>
      </p:sp>
      <p:sp>
        <p:nvSpPr>
          <p:cNvPr id="5" name="Shape 3"/>
          <p:cNvSpPr/>
          <p:nvPr/>
        </p:nvSpPr>
        <p:spPr>
          <a:xfrm>
            <a:off x="793790" y="2323624"/>
            <a:ext cx="2763679" cy="255151"/>
          </a:xfrm>
          <a:prstGeom prst="roundRect">
            <a:avLst>
              <a:gd name="adj" fmla="val 12001"/>
            </a:avLst>
          </a:prstGeom>
          <a:solidFill>
            <a:srgbClr val="2150FE"/>
          </a:solidFill>
          <a:ln/>
        </p:spPr>
        <p:txBody>
          <a:bodyPr/>
          <a:lstStyle/>
          <a:p>
            <a:endParaRPr lang="en-US"/>
          </a:p>
        </p:txBody>
      </p:sp>
      <p:sp>
        <p:nvSpPr>
          <p:cNvPr id="6" name="Text 4"/>
          <p:cNvSpPr/>
          <p:nvPr/>
        </p:nvSpPr>
        <p:spPr>
          <a:xfrm>
            <a:off x="4536043" y="2323624"/>
            <a:ext cx="435173" cy="255151"/>
          </a:xfrm>
          <a:prstGeom prst="rect">
            <a:avLst/>
          </a:prstGeom>
          <a:noFill/>
          <a:ln/>
        </p:spPr>
        <p:txBody>
          <a:bodyPr wrap="none" lIns="0" tIns="0" rIns="0" bIns="0" rtlCol="0" anchor="t"/>
          <a:lstStyle/>
          <a:p>
            <a:pPr marL="0" indent="0" algn="l">
              <a:lnSpc>
                <a:spcPts val="20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77%</a:t>
            </a:r>
            <a:endParaRPr lang="en-US" sz="2000" dirty="0"/>
          </a:p>
        </p:txBody>
      </p:sp>
      <p:sp>
        <p:nvSpPr>
          <p:cNvPr id="7" name="Text 5"/>
          <p:cNvSpPr/>
          <p:nvPr/>
        </p:nvSpPr>
        <p:spPr>
          <a:xfrm>
            <a:off x="793790" y="2833807"/>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Logistic Regression</a:t>
            </a:r>
            <a:endParaRPr lang="en-US" sz="2000" dirty="0"/>
          </a:p>
        </p:txBody>
      </p:sp>
      <p:sp>
        <p:nvSpPr>
          <p:cNvPr id="8" name="Text 6"/>
          <p:cNvSpPr/>
          <p:nvPr/>
        </p:nvSpPr>
        <p:spPr>
          <a:xfrm>
            <a:off x="793790" y="3275052"/>
            <a:ext cx="4177427" cy="326708"/>
          </a:xfrm>
          <a:prstGeom prst="rect">
            <a:avLst/>
          </a:prstGeom>
          <a:noFill/>
          <a:ln/>
        </p:spPr>
        <p:txBody>
          <a:bodyPr wrap="non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Mô hình tuyến tính này đạt hiệu suất khá tốt.</a:t>
            </a:r>
            <a:endParaRPr lang="en-US" sz="1600" dirty="0"/>
          </a:p>
        </p:txBody>
      </p:sp>
      <p:sp>
        <p:nvSpPr>
          <p:cNvPr id="9" name="Shape 7"/>
          <p:cNvSpPr/>
          <p:nvPr/>
        </p:nvSpPr>
        <p:spPr>
          <a:xfrm>
            <a:off x="5226368" y="2323624"/>
            <a:ext cx="3561993" cy="255151"/>
          </a:xfrm>
          <a:prstGeom prst="roundRect">
            <a:avLst>
              <a:gd name="adj" fmla="val 12001"/>
            </a:avLst>
          </a:prstGeom>
          <a:solidFill>
            <a:srgbClr val="F2EEEE"/>
          </a:solidFill>
          <a:ln/>
        </p:spPr>
        <p:txBody>
          <a:bodyPr/>
          <a:lstStyle/>
          <a:p>
            <a:endParaRPr lang="en-US"/>
          </a:p>
        </p:txBody>
      </p:sp>
      <p:sp>
        <p:nvSpPr>
          <p:cNvPr id="10" name="Shape 8"/>
          <p:cNvSpPr/>
          <p:nvPr/>
        </p:nvSpPr>
        <p:spPr>
          <a:xfrm>
            <a:off x="5226368" y="2323624"/>
            <a:ext cx="2493288" cy="255151"/>
          </a:xfrm>
          <a:prstGeom prst="roundRect">
            <a:avLst>
              <a:gd name="adj" fmla="val 12001"/>
            </a:avLst>
          </a:prstGeom>
          <a:solidFill>
            <a:srgbClr val="2150FE"/>
          </a:solidFill>
          <a:ln/>
        </p:spPr>
        <p:txBody>
          <a:bodyPr/>
          <a:lstStyle/>
          <a:p>
            <a:endParaRPr lang="en-US"/>
          </a:p>
        </p:txBody>
      </p:sp>
      <p:sp>
        <p:nvSpPr>
          <p:cNvPr id="11" name="Text 9"/>
          <p:cNvSpPr/>
          <p:nvPr/>
        </p:nvSpPr>
        <p:spPr>
          <a:xfrm>
            <a:off x="8941356" y="2323624"/>
            <a:ext cx="462558" cy="255151"/>
          </a:xfrm>
          <a:prstGeom prst="rect">
            <a:avLst/>
          </a:prstGeom>
          <a:noFill/>
          <a:ln/>
        </p:spPr>
        <p:txBody>
          <a:bodyPr wrap="none" lIns="0" tIns="0" rIns="0" bIns="0" rtlCol="0" anchor="t"/>
          <a:lstStyle/>
          <a:p>
            <a:pPr marL="0" indent="0" algn="l">
              <a:lnSpc>
                <a:spcPts val="20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70%</a:t>
            </a:r>
            <a:endParaRPr lang="en-US" sz="2000" dirty="0"/>
          </a:p>
        </p:txBody>
      </p:sp>
      <p:sp>
        <p:nvSpPr>
          <p:cNvPr id="12" name="Text 10"/>
          <p:cNvSpPr/>
          <p:nvPr/>
        </p:nvSpPr>
        <p:spPr>
          <a:xfrm>
            <a:off x="5226368" y="2833807"/>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Decision Tree</a:t>
            </a:r>
            <a:endParaRPr lang="en-US" sz="2000" dirty="0"/>
          </a:p>
        </p:txBody>
      </p:sp>
      <p:sp>
        <p:nvSpPr>
          <p:cNvPr id="13" name="Text 11"/>
          <p:cNvSpPr/>
          <p:nvPr/>
        </p:nvSpPr>
        <p:spPr>
          <a:xfrm>
            <a:off x="5226368" y="3275052"/>
            <a:ext cx="4177546" cy="326708"/>
          </a:xfrm>
          <a:prstGeom prst="rect">
            <a:avLst/>
          </a:prstGeom>
          <a:noFill/>
          <a:ln/>
        </p:spPr>
        <p:txBody>
          <a:bodyPr wrap="non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Độ chính xác thấp nhất, có thể do overfitting.</a:t>
            </a:r>
            <a:endParaRPr lang="en-US" sz="1600" dirty="0"/>
          </a:p>
        </p:txBody>
      </p:sp>
      <p:sp>
        <p:nvSpPr>
          <p:cNvPr id="14" name="Shape 12"/>
          <p:cNvSpPr/>
          <p:nvPr/>
        </p:nvSpPr>
        <p:spPr>
          <a:xfrm>
            <a:off x="9659064" y="2323624"/>
            <a:ext cx="3534966" cy="255151"/>
          </a:xfrm>
          <a:prstGeom prst="roundRect">
            <a:avLst>
              <a:gd name="adj" fmla="val 12001"/>
            </a:avLst>
          </a:prstGeom>
          <a:solidFill>
            <a:srgbClr val="F2EEEE"/>
          </a:solidFill>
          <a:ln/>
        </p:spPr>
        <p:txBody>
          <a:bodyPr/>
          <a:lstStyle/>
          <a:p>
            <a:endParaRPr lang="en-US"/>
          </a:p>
        </p:txBody>
      </p:sp>
      <p:sp>
        <p:nvSpPr>
          <p:cNvPr id="15" name="Shape 13"/>
          <p:cNvSpPr/>
          <p:nvPr/>
        </p:nvSpPr>
        <p:spPr>
          <a:xfrm>
            <a:off x="9659064" y="2323624"/>
            <a:ext cx="2827972" cy="255151"/>
          </a:xfrm>
          <a:prstGeom prst="roundRect">
            <a:avLst>
              <a:gd name="adj" fmla="val 12001"/>
            </a:avLst>
          </a:prstGeom>
          <a:solidFill>
            <a:srgbClr val="2150FE"/>
          </a:solidFill>
          <a:ln/>
        </p:spPr>
        <p:txBody>
          <a:bodyPr/>
          <a:lstStyle/>
          <a:p>
            <a:endParaRPr lang="en-US"/>
          </a:p>
        </p:txBody>
      </p:sp>
      <p:sp>
        <p:nvSpPr>
          <p:cNvPr id="16" name="Text 14"/>
          <p:cNvSpPr/>
          <p:nvPr/>
        </p:nvSpPr>
        <p:spPr>
          <a:xfrm>
            <a:off x="13347025" y="2323624"/>
            <a:ext cx="489466" cy="255151"/>
          </a:xfrm>
          <a:prstGeom prst="rect">
            <a:avLst/>
          </a:prstGeom>
          <a:noFill/>
          <a:ln/>
        </p:spPr>
        <p:txBody>
          <a:bodyPr wrap="none" lIns="0" tIns="0" rIns="0" bIns="0" rtlCol="0" anchor="t"/>
          <a:lstStyle/>
          <a:p>
            <a:pPr marL="0" indent="0" algn="l">
              <a:lnSpc>
                <a:spcPts val="20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80%</a:t>
            </a:r>
            <a:endParaRPr lang="en-US" sz="2000" dirty="0"/>
          </a:p>
        </p:txBody>
      </p:sp>
      <p:sp>
        <p:nvSpPr>
          <p:cNvPr id="17" name="Text 15"/>
          <p:cNvSpPr/>
          <p:nvPr/>
        </p:nvSpPr>
        <p:spPr>
          <a:xfrm>
            <a:off x="9659064" y="2833807"/>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Random Forest</a:t>
            </a:r>
            <a:endParaRPr lang="en-US" sz="2000" dirty="0"/>
          </a:p>
        </p:txBody>
      </p:sp>
      <p:sp>
        <p:nvSpPr>
          <p:cNvPr id="18" name="Text 16"/>
          <p:cNvSpPr/>
          <p:nvPr/>
        </p:nvSpPr>
        <p:spPr>
          <a:xfrm>
            <a:off x="9659064" y="3275052"/>
            <a:ext cx="4177427" cy="326708"/>
          </a:xfrm>
          <a:prstGeom prst="rect">
            <a:avLst/>
          </a:prstGeom>
          <a:noFill/>
          <a:ln/>
        </p:spPr>
        <p:txBody>
          <a:bodyPr wrap="non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Vượt trội nhất, đạt độ chính xác cao nhất.</a:t>
            </a:r>
            <a:endParaRPr lang="en-US" sz="1600" dirty="0"/>
          </a:p>
        </p:txBody>
      </p:sp>
      <p:sp>
        <p:nvSpPr>
          <p:cNvPr id="19" name="Shape 17"/>
          <p:cNvSpPr/>
          <p:nvPr/>
        </p:nvSpPr>
        <p:spPr>
          <a:xfrm>
            <a:off x="793790" y="4112062"/>
            <a:ext cx="3585091" cy="255151"/>
          </a:xfrm>
          <a:prstGeom prst="roundRect">
            <a:avLst>
              <a:gd name="adj" fmla="val 12001"/>
            </a:avLst>
          </a:prstGeom>
          <a:solidFill>
            <a:srgbClr val="F2EEEE"/>
          </a:solidFill>
          <a:ln/>
        </p:spPr>
        <p:txBody>
          <a:bodyPr/>
          <a:lstStyle/>
          <a:p>
            <a:endParaRPr lang="en-US"/>
          </a:p>
        </p:txBody>
      </p:sp>
      <p:sp>
        <p:nvSpPr>
          <p:cNvPr id="20" name="Shape 18"/>
          <p:cNvSpPr/>
          <p:nvPr/>
        </p:nvSpPr>
        <p:spPr>
          <a:xfrm>
            <a:off x="793790" y="4112062"/>
            <a:ext cx="2652951" cy="255151"/>
          </a:xfrm>
          <a:prstGeom prst="roundRect">
            <a:avLst>
              <a:gd name="adj" fmla="val 12001"/>
            </a:avLst>
          </a:prstGeom>
          <a:solidFill>
            <a:srgbClr val="2150FE"/>
          </a:solidFill>
          <a:ln/>
        </p:spPr>
        <p:txBody>
          <a:bodyPr/>
          <a:lstStyle/>
          <a:p>
            <a:endParaRPr lang="en-US"/>
          </a:p>
        </p:txBody>
      </p:sp>
      <p:sp>
        <p:nvSpPr>
          <p:cNvPr id="21" name="Text 19"/>
          <p:cNvSpPr/>
          <p:nvPr/>
        </p:nvSpPr>
        <p:spPr>
          <a:xfrm>
            <a:off x="4531876" y="4112062"/>
            <a:ext cx="439341" cy="255151"/>
          </a:xfrm>
          <a:prstGeom prst="rect">
            <a:avLst/>
          </a:prstGeom>
          <a:noFill/>
          <a:ln/>
        </p:spPr>
        <p:txBody>
          <a:bodyPr wrap="none" lIns="0" tIns="0" rIns="0" bIns="0" rtlCol="0" anchor="t"/>
          <a:lstStyle/>
          <a:p>
            <a:pPr marL="0" indent="0" algn="l">
              <a:lnSpc>
                <a:spcPts val="20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74%</a:t>
            </a:r>
            <a:endParaRPr lang="en-US" sz="2000" dirty="0"/>
          </a:p>
        </p:txBody>
      </p:sp>
      <p:sp>
        <p:nvSpPr>
          <p:cNvPr id="22" name="Text 20"/>
          <p:cNvSpPr/>
          <p:nvPr/>
        </p:nvSpPr>
        <p:spPr>
          <a:xfrm>
            <a:off x="793790" y="4622244"/>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KNN</a:t>
            </a:r>
            <a:endParaRPr lang="en-US" sz="2000" dirty="0"/>
          </a:p>
        </p:txBody>
      </p:sp>
      <p:sp>
        <p:nvSpPr>
          <p:cNvPr id="23" name="Text 21"/>
          <p:cNvSpPr/>
          <p:nvPr/>
        </p:nvSpPr>
        <p:spPr>
          <a:xfrm>
            <a:off x="793790" y="5063490"/>
            <a:ext cx="4177427" cy="653415"/>
          </a:xfrm>
          <a:prstGeom prst="rect">
            <a:avLst/>
          </a:prstGeom>
          <a:noFill/>
          <a:ln/>
        </p:spPr>
        <p:txBody>
          <a:bodyPr wrap="squar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Hiệu suất tương đối, nhạy cảm với cấu trúc dữ liệu cục bộ.</a:t>
            </a:r>
            <a:endParaRPr lang="en-US" sz="1600" dirty="0"/>
          </a:p>
        </p:txBody>
      </p:sp>
      <p:sp>
        <p:nvSpPr>
          <p:cNvPr id="24" name="Shape 22"/>
          <p:cNvSpPr/>
          <p:nvPr/>
        </p:nvSpPr>
        <p:spPr>
          <a:xfrm>
            <a:off x="5226368" y="4112062"/>
            <a:ext cx="3569732" cy="255151"/>
          </a:xfrm>
          <a:prstGeom prst="roundRect">
            <a:avLst>
              <a:gd name="adj" fmla="val 12001"/>
            </a:avLst>
          </a:prstGeom>
          <a:solidFill>
            <a:srgbClr val="F2EEEE"/>
          </a:solidFill>
          <a:ln/>
        </p:spPr>
        <p:txBody>
          <a:bodyPr/>
          <a:lstStyle/>
          <a:p>
            <a:endParaRPr lang="en-US"/>
          </a:p>
        </p:txBody>
      </p:sp>
      <p:sp>
        <p:nvSpPr>
          <p:cNvPr id="25" name="Shape 23"/>
          <p:cNvSpPr/>
          <p:nvPr/>
        </p:nvSpPr>
        <p:spPr>
          <a:xfrm>
            <a:off x="5226368" y="4112062"/>
            <a:ext cx="2784277" cy="255151"/>
          </a:xfrm>
          <a:prstGeom prst="roundRect">
            <a:avLst>
              <a:gd name="adj" fmla="val 12001"/>
            </a:avLst>
          </a:prstGeom>
          <a:solidFill>
            <a:srgbClr val="2150FE"/>
          </a:solidFill>
          <a:ln/>
        </p:spPr>
        <p:txBody>
          <a:bodyPr/>
          <a:lstStyle/>
          <a:p>
            <a:endParaRPr lang="en-US"/>
          </a:p>
        </p:txBody>
      </p:sp>
      <p:sp>
        <p:nvSpPr>
          <p:cNvPr id="26" name="Text 24"/>
          <p:cNvSpPr/>
          <p:nvPr/>
        </p:nvSpPr>
        <p:spPr>
          <a:xfrm>
            <a:off x="8949095" y="4112062"/>
            <a:ext cx="454819" cy="255151"/>
          </a:xfrm>
          <a:prstGeom prst="rect">
            <a:avLst/>
          </a:prstGeom>
          <a:noFill/>
          <a:ln/>
        </p:spPr>
        <p:txBody>
          <a:bodyPr wrap="none" lIns="0" tIns="0" rIns="0" bIns="0" rtlCol="0" anchor="t"/>
          <a:lstStyle/>
          <a:p>
            <a:pPr marL="0" indent="0" algn="l">
              <a:lnSpc>
                <a:spcPts val="20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78%</a:t>
            </a:r>
            <a:endParaRPr lang="en-US" sz="2000" dirty="0"/>
          </a:p>
        </p:txBody>
      </p:sp>
      <p:sp>
        <p:nvSpPr>
          <p:cNvPr id="27" name="Text 25"/>
          <p:cNvSpPr/>
          <p:nvPr/>
        </p:nvSpPr>
        <p:spPr>
          <a:xfrm>
            <a:off x="5226368" y="4622244"/>
            <a:ext cx="2551748" cy="318849"/>
          </a:xfrm>
          <a:prstGeom prst="rect">
            <a:avLst/>
          </a:prstGeom>
          <a:noFill/>
          <a:ln/>
        </p:spPr>
        <p:txBody>
          <a:bodyPr wrap="none" lIns="0" tIns="0" rIns="0" bIns="0" rtlCol="0" anchor="t"/>
          <a:lstStyle/>
          <a:p>
            <a:pPr marL="0" indent="0" algn="l">
              <a:lnSpc>
                <a:spcPts val="2500"/>
              </a:lnSpc>
              <a:buNone/>
            </a:pPr>
            <a:r>
              <a:rPr lang="en-US" sz="2000" dirty="0">
                <a:solidFill>
                  <a:srgbClr val="4C4C4D"/>
                </a:solidFill>
                <a:latin typeface="Crimson Pro Semi Bold" pitchFamily="34" charset="0"/>
                <a:ea typeface="Crimson Pro Semi Bold" pitchFamily="34" charset="-122"/>
                <a:cs typeface="Crimson Pro Semi Bold" pitchFamily="34" charset="-120"/>
              </a:rPr>
              <a:t>SVM</a:t>
            </a:r>
            <a:endParaRPr lang="en-US" sz="2000" dirty="0"/>
          </a:p>
        </p:txBody>
      </p:sp>
      <p:sp>
        <p:nvSpPr>
          <p:cNvPr id="28" name="Text 26"/>
          <p:cNvSpPr/>
          <p:nvPr/>
        </p:nvSpPr>
        <p:spPr>
          <a:xfrm>
            <a:off x="5226368" y="5063490"/>
            <a:ext cx="4177546" cy="653415"/>
          </a:xfrm>
          <a:prstGeom prst="rect">
            <a:avLst/>
          </a:prstGeom>
          <a:noFill/>
          <a:ln/>
        </p:spPr>
        <p:txBody>
          <a:bodyPr wrap="squar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Kết quả rất tốt, khả năng phân tách tối ưu hiệu quả.</a:t>
            </a:r>
            <a:endParaRPr lang="en-US" sz="1600" dirty="0"/>
          </a:p>
        </p:txBody>
      </p:sp>
      <p:sp>
        <p:nvSpPr>
          <p:cNvPr id="29" name="Text 27"/>
          <p:cNvSpPr/>
          <p:nvPr/>
        </p:nvSpPr>
        <p:spPr>
          <a:xfrm>
            <a:off x="793790" y="5946457"/>
            <a:ext cx="13042821" cy="653415"/>
          </a:xfrm>
          <a:prstGeom prst="rect">
            <a:avLst/>
          </a:prstGeom>
          <a:noFill/>
          <a:ln/>
        </p:spPr>
        <p:txBody>
          <a:bodyPr wrap="squar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Dựa trên chỉ số Accuracy, </a:t>
            </a:r>
            <a:r>
              <a:rPr lang="en-US" sz="1600" dirty="0">
                <a:solidFill>
                  <a:srgbClr val="2B0AFF"/>
                </a:solidFill>
                <a:latin typeface="Heebo" pitchFamily="34" charset="0"/>
                <a:ea typeface="Heebo" pitchFamily="34" charset="-122"/>
                <a:cs typeface="Heebo" pitchFamily="34" charset="-120"/>
              </a:rPr>
              <a:t>Random Forest là mô hình có hiệu suất tốt nhất</a:t>
            </a:r>
            <a:r>
              <a:rPr lang="en-US" sz="1600" dirty="0">
                <a:solidFill>
                  <a:srgbClr val="4C4C4D"/>
                </a:solidFill>
                <a:latin typeface="Heebo" pitchFamily="34" charset="0"/>
                <a:ea typeface="Heebo" pitchFamily="34" charset="-122"/>
                <a:cs typeface="Heebo" pitchFamily="34" charset="-120"/>
              </a:rPr>
              <a:t> với độ chính xác xấp xỉ </a:t>
            </a:r>
            <a:r>
              <a:rPr lang="en-US" sz="1600" dirty="0">
                <a:solidFill>
                  <a:srgbClr val="2B0AFF"/>
                </a:solidFill>
                <a:latin typeface="Heebo" pitchFamily="34" charset="0"/>
                <a:ea typeface="Heebo" pitchFamily="34" charset="-122"/>
                <a:cs typeface="Heebo" pitchFamily="34" charset="-120"/>
              </a:rPr>
              <a:t>80%</a:t>
            </a:r>
            <a:r>
              <a:rPr lang="en-US" sz="1600" dirty="0">
                <a:solidFill>
                  <a:srgbClr val="4C4C4D"/>
                </a:solidFill>
                <a:latin typeface="Heebo" pitchFamily="34" charset="0"/>
                <a:ea typeface="Heebo" pitchFamily="34" charset="-122"/>
                <a:cs typeface="Heebo" pitchFamily="34" charset="-120"/>
              </a:rPr>
              <a:t>. Điều này có nghĩa là mô hình Random Forest có khả năng dự đoán đúng khoảng 80% số trường hợp mắc hoặc không mắc bệnh tiểu đường trong tập kiểm tra.</a:t>
            </a:r>
            <a:endParaRPr lang="en-US" sz="1600" dirty="0"/>
          </a:p>
        </p:txBody>
      </p:sp>
      <p:sp>
        <p:nvSpPr>
          <p:cNvPr id="30" name="Text 28"/>
          <p:cNvSpPr/>
          <p:nvPr/>
        </p:nvSpPr>
        <p:spPr>
          <a:xfrm>
            <a:off x="793790" y="6829425"/>
            <a:ext cx="13042821" cy="653415"/>
          </a:xfrm>
          <a:prstGeom prst="rect">
            <a:avLst/>
          </a:prstGeom>
          <a:noFill/>
          <a:ln/>
        </p:spPr>
        <p:txBody>
          <a:bodyPr wrap="square" lIns="0" tIns="0" rIns="0" bIns="0" rtlCol="0" anchor="t"/>
          <a:lstStyle/>
          <a:p>
            <a:pPr marL="0" indent="0" algn="l">
              <a:lnSpc>
                <a:spcPts val="2550"/>
              </a:lnSpc>
              <a:buNone/>
            </a:pPr>
            <a:r>
              <a:rPr lang="en-US" sz="1600" dirty="0">
                <a:solidFill>
                  <a:srgbClr val="4C4C4D"/>
                </a:solidFill>
                <a:latin typeface="Heebo" pitchFamily="34" charset="0"/>
                <a:ea typeface="Heebo" pitchFamily="34" charset="-122"/>
                <a:cs typeface="Heebo" pitchFamily="34" charset="-120"/>
              </a:rPr>
              <a:t>Kết quả chi tiết hơn với các chỉ số Precision, Recall và F1-score cũng được phân tích để đánh giá toàn diện hơn về khả năng của từng mô hình trong việc phân loại các lớp khác nhau (người mắc bệnh và người không mắc bệnh).</a:t>
            </a:r>
            <a:endParaRPr lang="en-US" sz="1600" dirty="0"/>
          </a:p>
        </p:txBody>
      </p:sp>
      <p:pic>
        <p:nvPicPr>
          <p:cNvPr id="31" name="Picture 30" descr="A white background with black and white clouds&#10;&#10;AI-generated content may be incorrect.">
            <a:extLst>
              <a:ext uri="{FF2B5EF4-FFF2-40B4-BE49-F238E27FC236}">
                <a16:creationId xmlns:a16="http://schemas.microsoft.com/office/drawing/2014/main" id="{6E505905-7D2C-7D26-506C-8F0FA2F9EF3A}"/>
              </a:ext>
            </a:extLst>
          </p:cNvPr>
          <p:cNvPicPr>
            <a:picLocks noChangeAspect="1"/>
          </p:cNvPicPr>
          <p:nvPr/>
        </p:nvPicPr>
        <p:blipFill>
          <a:blip r:embed="rId3"/>
          <a:stretch>
            <a:fillRect/>
          </a:stretch>
        </p:blipFill>
        <p:spPr>
          <a:xfrm>
            <a:off x="11608875" y="7230794"/>
            <a:ext cx="3021525" cy="99880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770334" y="605195"/>
            <a:ext cx="3231594" cy="357545"/>
          </a:xfrm>
          <a:prstGeom prst="rect">
            <a:avLst/>
          </a:prstGeom>
          <a:noFill/>
          <a:ln/>
        </p:spPr>
        <p:txBody>
          <a:bodyPr wrap="none" lIns="0" tIns="0" rIns="0" bIns="0" rtlCol="0" anchor="t"/>
          <a:lstStyle/>
          <a:p>
            <a:pPr marL="0" indent="0" algn="l">
              <a:lnSpc>
                <a:spcPts val="2800"/>
              </a:lnSpc>
              <a:buNone/>
            </a:pPr>
            <a:r>
              <a:rPr lang="en-US" sz="2250" dirty="0">
                <a:solidFill>
                  <a:srgbClr val="152D47"/>
                </a:solidFill>
                <a:latin typeface="Crimson Pro Semi Bold" pitchFamily="34" charset="0"/>
                <a:ea typeface="Crimson Pro Semi Bold" pitchFamily="34" charset="-122"/>
                <a:cs typeface="Crimson Pro Semi Bold" pitchFamily="34" charset="-120"/>
              </a:rPr>
              <a:t>8. Confusion Matrix &amp; ROC</a:t>
            </a:r>
            <a:endParaRPr lang="en-US" sz="2250" dirty="0"/>
          </a:p>
        </p:txBody>
      </p:sp>
      <p:sp>
        <p:nvSpPr>
          <p:cNvPr id="3" name="Text 1"/>
          <p:cNvSpPr/>
          <p:nvPr/>
        </p:nvSpPr>
        <p:spPr>
          <a:xfrm>
            <a:off x="770334" y="1248847"/>
            <a:ext cx="13089731" cy="228957"/>
          </a:xfrm>
          <a:prstGeom prst="rect">
            <a:avLst/>
          </a:prstGeom>
          <a:noFill/>
          <a:ln/>
        </p:spPr>
        <p:txBody>
          <a:bodyPr wrap="none" lIns="0" tIns="0" rIns="0" bIns="0" rtlCol="0" anchor="t"/>
          <a:lstStyle/>
          <a:p>
            <a:pPr marL="0" indent="0" algn="l">
              <a:lnSpc>
                <a:spcPts val="1800"/>
              </a:lnSpc>
              <a:buNone/>
            </a:pPr>
            <a:r>
              <a:rPr lang="en-US" sz="1100" dirty="0">
                <a:solidFill>
                  <a:srgbClr val="4C4C4D"/>
                </a:solidFill>
                <a:latin typeface="Heebo" pitchFamily="34" charset="0"/>
                <a:ea typeface="Heebo" pitchFamily="34" charset="-122"/>
                <a:cs typeface="Heebo" pitchFamily="34" charset="-120"/>
              </a:rPr>
              <a:t>Ma trận nhầm lẫn (Confusion Matrix) là một công cụ mạnh mẽ để hình dung hiệu suất của thuật toán phân loại, thể hiện số lượng dự đoán đúng và sai của mô hình cho từng lớp.</a:t>
            </a:r>
            <a:endParaRPr lang="en-US" sz="1100" dirty="0"/>
          </a:p>
        </p:txBody>
      </p:sp>
      <p:pic>
        <p:nvPicPr>
          <p:cNvPr id="4" name="Image 0" descr="preencoded.png"/>
          <p:cNvPicPr>
            <a:picLocks noChangeAspect="1"/>
          </p:cNvPicPr>
          <p:nvPr/>
        </p:nvPicPr>
        <p:blipFill>
          <a:blip r:embed="rId3"/>
          <a:stretch>
            <a:fillRect/>
          </a:stretch>
        </p:blipFill>
        <p:spPr>
          <a:xfrm>
            <a:off x="770334" y="1799511"/>
            <a:ext cx="4140756" cy="3554730"/>
          </a:xfrm>
          <a:prstGeom prst="rect">
            <a:avLst/>
          </a:prstGeom>
        </p:spPr>
      </p:pic>
      <p:sp>
        <p:nvSpPr>
          <p:cNvPr id="5" name="Text 2"/>
          <p:cNvSpPr/>
          <p:nvPr/>
        </p:nvSpPr>
        <p:spPr>
          <a:xfrm>
            <a:off x="770334" y="5515094"/>
            <a:ext cx="6370439" cy="228957"/>
          </a:xfrm>
          <a:prstGeom prst="rect">
            <a:avLst/>
          </a:prstGeom>
          <a:noFill/>
          <a:ln/>
        </p:spPr>
        <p:txBody>
          <a:bodyPr wrap="none" lIns="0" tIns="0" rIns="0" bIns="0" rtlCol="0" anchor="t"/>
          <a:lstStyle/>
          <a:p>
            <a:pPr marL="0" indent="0" algn="l">
              <a:lnSpc>
                <a:spcPts val="1800"/>
              </a:lnSpc>
              <a:buNone/>
            </a:pPr>
            <a:r>
              <a:rPr lang="en-US" sz="1100" dirty="0">
                <a:solidFill>
                  <a:srgbClr val="4C4C4D"/>
                </a:solidFill>
                <a:latin typeface="Heebo" pitchFamily="34" charset="0"/>
                <a:ea typeface="Heebo" pitchFamily="34" charset="-122"/>
                <a:cs typeface="Heebo" pitchFamily="34" charset="-120"/>
              </a:rPr>
              <a:t>Với mô hình Random Forest, Confusion Matrix cho thấy:</a:t>
            </a:r>
            <a:endParaRPr lang="en-US" sz="1100" dirty="0"/>
          </a:p>
        </p:txBody>
      </p:sp>
      <p:sp>
        <p:nvSpPr>
          <p:cNvPr id="6" name="Text 3"/>
          <p:cNvSpPr/>
          <p:nvPr/>
        </p:nvSpPr>
        <p:spPr>
          <a:xfrm>
            <a:off x="770334" y="5872758"/>
            <a:ext cx="6370439" cy="228957"/>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4C4C4D"/>
                </a:solidFill>
                <a:latin typeface="Heebo" pitchFamily="34" charset="0"/>
                <a:ea typeface="Heebo" pitchFamily="34" charset="-122"/>
                <a:cs typeface="Heebo" pitchFamily="34" charset="-120"/>
              </a:rPr>
              <a:t>True Positives</a:t>
            </a:r>
            <a:r>
              <a:rPr lang="en-US" sz="1100" dirty="0">
                <a:solidFill>
                  <a:srgbClr val="4C4C4D"/>
                </a:solidFill>
                <a:latin typeface="Heebo" pitchFamily="34" charset="0"/>
                <a:ea typeface="Heebo" pitchFamily="34" charset="-122"/>
                <a:cs typeface="Heebo" pitchFamily="34" charset="-120"/>
              </a:rPr>
              <a:t>: Số người thực sự mắc tiểu đường được dự đoán đúng.</a:t>
            </a:r>
            <a:endParaRPr lang="en-US" sz="1100" dirty="0"/>
          </a:p>
        </p:txBody>
      </p:sp>
      <p:sp>
        <p:nvSpPr>
          <p:cNvPr id="7" name="Text 4"/>
          <p:cNvSpPr/>
          <p:nvPr/>
        </p:nvSpPr>
        <p:spPr>
          <a:xfrm>
            <a:off x="770334" y="6151721"/>
            <a:ext cx="6370439" cy="228957"/>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4C4C4D"/>
                </a:solidFill>
                <a:latin typeface="Heebo" pitchFamily="34" charset="0"/>
                <a:ea typeface="Heebo" pitchFamily="34" charset="-122"/>
                <a:cs typeface="Heebo" pitchFamily="34" charset="-120"/>
              </a:rPr>
              <a:t>False Positives</a:t>
            </a:r>
            <a:r>
              <a:rPr lang="en-US" sz="1100" dirty="0">
                <a:solidFill>
                  <a:srgbClr val="4C4C4D"/>
                </a:solidFill>
                <a:latin typeface="Heebo" pitchFamily="34" charset="0"/>
                <a:ea typeface="Heebo" pitchFamily="34" charset="-122"/>
                <a:cs typeface="Heebo" pitchFamily="34" charset="-120"/>
              </a:rPr>
              <a:t>: Số người không mắc tiểu đường bị dự đoán sai là mắc bệnh.</a:t>
            </a:r>
            <a:endParaRPr lang="en-US" sz="1100" dirty="0"/>
          </a:p>
        </p:txBody>
      </p:sp>
      <p:sp>
        <p:nvSpPr>
          <p:cNvPr id="8" name="Text 5"/>
          <p:cNvSpPr/>
          <p:nvPr/>
        </p:nvSpPr>
        <p:spPr>
          <a:xfrm>
            <a:off x="770334" y="6430685"/>
            <a:ext cx="6370439" cy="228957"/>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4C4C4D"/>
                </a:solidFill>
                <a:latin typeface="Heebo" pitchFamily="34" charset="0"/>
                <a:ea typeface="Heebo" pitchFamily="34" charset="-122"/>
                <a:cs typeface="Heebo" pitchFamily="34" charset="-120"/>
              </a:rPr>
              <a:t>True Negatives</a:t>
            </a:r>
            <a:r>
              <a:rPr lang="en-US" sz="1100" dirty="0">
                <a:solidFill>
                  <a:srgbClr val="4C4C4D"/>
                </a:solidFill>
                <a:latin typeface="Heebo" pitchFamily="34" charset="0"/>
                <a:ea typeface="Heebo" pitchFamily="34" charset="-122"/>
                <a:cs typeface="Heebo" pitchFamily="34" charset="-120"/>
              </a:rPr>
              <a:t>: Số người thực sự không mắc tiểu đường được dự đoán đúng.</a:t>
            </a:r>
            <a:endParaRPr lang="en-US" sz="1100" dirty="0"/>
          </a:p>
        </p:txBody>
      </p:sp>
      <p:sp>
        <p:nvSpPr>
          <p:cNvPr id="9" name="Text 6"/>
          <p:cNvSpPr/>
          <p:nvPr/>
        </p:nvSpPr>
        <p:spPr>
          <a:xfrm>
            <a:off x="770334" y="6709648"/>
            <a:ext cx="6370439" cy="228957"/>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4C4C4D"/>
                </a:solidFill>
                <a:latin typeface="Heebo" pitchFamily="34" charset="0"/>
                <a:ea typeface="Heebo" pitchFamily="34" charset="-122"/>
                <a:cs typeface="Heebo" pitchFamily="34" charset="-120"/>
              </a:rPr>
              <a:t>False Negatives</a:t>
            </a:r>
            <a:r>
              <a:rPr lang="en-US" sz="1100" dirty="0">
                <a:solidFill>
                  <a:srgbClr val="4C4C4D"/>
                </a:solidFill>
                <a:latin typeface="Heebo" pitchFamily="34" charset="0"/>
                <a:ea typeface="Heebo" pitchFamily="34" charset="-122"/>
                <a:cs typeface="Heebo" pitchFamily="34" charset="-120"/>
              </a:rPr>
              <a:t>: Số người mắc tiểu đường bị dự đoán sai là không mắc bệnh.</a:t>
            </a:r>
            <a:endParaRPr lang="en-US" sz="1100" dirty="0"/>
          </a:p>
        </p:txBody>
      </p:sp>
      <p:sp>
        <p:nvSpPr>
          <p:cNvPr id="10" name="Text 7"/>
          <p:cNvSpPr/>
          <p:nvPr/>
        </p:nvSpPr>
        <p:spPr>
          <a:xfrm>
            <a:off x="7497247" y="1781651"/>
            <a:ext cx="1788319" cy="223480"/>
          </a:xfrm>
          <a:prstGeom prst="rect">
            <a:avLst/>
          </a:prstGeom>
          <a:noFill/>
          <a:ln/>
        </p:spPr>
        <p:txBody>
          <a:bodyPr wrap="none" lIns="0" tIns="0" rIns="0" bIns="0" rtlCol="0" anchor="t"/>
          <a:lstStyle/>
          <a:p>
            <a:pPr marL="0" indent="0" algn="l">
              <a:lnSpc>
                <a:spcPts val="1750"/>
              </a:lnSpc>
              <a:buNone/>
            </a:pPr>
            <a:r>
              <a:rPr lang="en-US" sz="1400" dirty="0">
                <a:solidFill>
                  <a:srgbClr val="152D47"/>
                </a:solidFill>
                <a:latin typeface="Crimson Pro Semi Bold" pitchFamily="34" charset="0"/>
                <a:ea typeface="Crimson Pro Semi Bold" pitchFamily="34" charset="-122"/>
                <a:cs typeface="Crimson Pro Semi Bold" pitchFamily="34" charset="-120"/>
              </a:rPr>
              <a:t>ROC Curve và AUC</a:t>
            </a:r>
            <a:endParaRPr lang="en-US" sz="1400" dirty="0"/>
          </a:p>
        </p:txBody>
      </p:sp>
      <p:pic>
        <p:nvPicPr>
          <p:cNvPr id="11" name="Image 1" descr="preencoded.png"/>
          <p:cNvPicPr>
            <a:picLocks noChangeAspect="1"/>
          </p:cNvPicPr>
          <p:nvPr/>
        </p:nvPicPr>
        <p:blipFill>
          <a:blip r:embed="rId4"/>
          <a:stretch>
            <a:fillRect/>
          </a:stretch>
        </p:blipFill>
        <p:spPr>
          <a:xfrm>
            <a:off x="7497247" y="2165985"/>
            <a:ext cx="4140756" cy="3322796"/>
          </a:xfrm>
          <a:prstGeom prst="rect">
            <a:avLst/>
          </a:prstGeom>
        </p:spPr>
      </p:pic>
      <p:sp>
        <p:nvSpPr>
          <p:cNvPr id="12" name="Text 8"/>
          <p:cNvSpPr/>
          <p:nvPr/>
        </p:nvSpPr>
        <p:spPr>
          <a:xfrm>
            <a:off x="7497247" y="5649635"/>
            <a:ext cx="6370439" cy="457914"/>
          </a:xfrm>
          <a:prstGeom prst="rect">
            <a:avLst/>
          </a:prstGeom>
          <a:noFill/>
          <a:ln/>
        </p:spPr>
        <p:txBody>
          <a:bodyPr wrap="square" lIns="0" tIns="0" rIns="0" bIns="0" rtlCol="0" anchor="t"/>
          <a:lstStyle/>
          <a:p>
            <a:pPr marL="0" indent="0" algn="l">
              <a:lnSpc>
                <a:spcPts val="1800"/>
              </a:lnSpc>
              <a:buNone/>
            </a:pPr>
            <a:r>
              <a:rPr lang="en-US" sz="1100" dirty="0">
                <a:solidFill>
                  <a:srgbClr val="4C4C4D"/>
                </a:solidFill>
                <a:latin typeface="Heebo" pitchFamily="34" charset="0"/>
                <a:ea typeface="Heebo" pitchFamily="34" charset="-122"/>
                <a:cs typeface="Heebo" pitchFamily="34" charset="-120"/>
              </a:rPr>
              <a:t>Đường cong đặc trưng hoạt động của bộ nhận (ROC Curve) biểu diễn khả năng phân loại của mô hình ở các ngưỡng khác nhau, vẽ tỷ lệ True Positive Rate (TPR) so với False Positive Rate (FPR).</a:t>
            </a:r>
            <a:endParaRPr lang="en-US" sz="1100" dirty="0"/>
          </a:p>
        </p:txBody>
      </p:sp>
      <p:sp>
        <p:nvSpPr>
          <p:cNvPr id="13" name="Text 9"/>
          <p:cNvSpPr/>
          <p:nvPr/>
        </p:nvSpPr>
        <p:spPr>
          <a:xfrm>
            <a:off x="7497247" y="6236256"/>
            <a:ext cx="6370439" cy="457914"/>
          </a:xfrm>
          <a:prstGeom prst="rect">
            <a:avLst/>
          </a:prstGeom>
          <a:noFill/>
          <a:ln/>
        </p:spPr>
        <p:txBody>
          <a:bodyPr wrap="square" lIns="0" tIns="0" rIns="0" bIns="0" rtlCol="0" anchor="t"/>
          <a:lstStyle/>
          <a:p>
            <a:pPr marL="0" indent="0" algn="l">
              <a:lnSpc>
                <a:spcPts val="1800"/>
              </a:lnSpc>
              <a:buNone/>
            </a:pPr>
            <a:r>
              <a:rPr lang="en-US" sz="1100" dirty="0">
                <a:solidFill>
                  <a:srgbClr val="4C4C4D"/>
                </a:solidFill>
                <a:latin typeface="Heebo" pitchFamily="34" charset="0"/>
                <a:ea typeface="Heebo" pitchFamily="34" charset="-122"/>
                <a:cs typeface="Heebo" pitchFamily="34" charset="-120"/>
              </a:rPr>
              <a:t>Diện tích dưới đường cong (AUC) là chỉ số tổng hợp về hiệu suất mô hình, có giá trị từ 0 đến 1. Một mô hình hoàn hảo có AUC là 1, trong khi dự đoán ngẫu nhiên là 0.5.</a:t>
            </a:r>
            <a:endParaRPr lang="en-US" sz="1100" dirty="0"/>
          </a:p>
        </p:txBody>
      </p:sp>
      <p:sp>
        <p:nvSpPr>
          <p:cNvPr id="14" name="Text 10"/>
          <p:cNvSpPr/>
          <p:nvPr/>
        </p:nvSpPr>
        <p:spPr>
          <a:xfrm>
            <a:off x="7497247" y="6822877"/>
            <a:ext cx="6370439" cy="228957"/>
          </a:xfrm>
          <a:prstGeom prst="rect">
            <a:avLst/>
          </a:prstGeom>
          <a:noFill/>
          <a:ln/>
        </p:spPr>
        <p:txBody>
          <a:bodyPr wrap="none" lIns="0" tIns="0" rIns="0" bIns="0" rtlCol="0" anchor="t"/>
          <a:lstStyle/>
          <a:p>
            <a:pPr marL="0" indent="0" algn="l">
              <a:lnSpc>
                <a:spcPts val="1800"/>
              </a:lnSpc>
              <a:buNone/>
            </a:pPr>
            <a:r>
              <a:rPr lang="en-US" sz="1100" dirty="0">
                <a:solidFill>
                  <a:srgbClr val="4C4C4D"/>
                </a:solidFill>
                <a:latin typeface="Heebo" pitchFamily="34" charset="0"/>
                <a:ea typeface="Heebo" pitchFamily="34" charset="-122"/>
                <a:cs typeface="Heebo" pitchFamily="34" charset="-120"/>
              </a:rPr>
              <a:t>Kết quả phân tích cho thấy:</a:t>
            </a:r>
            <a:endParaRPr lang="en-US" sz="1100" dirty="0"/>
          </a:p>
        </p:txBody>
      </p:sp>
      <p:sp>
        <p:nvSpPr>
          <p:cNvPr id="15" name="Text 11"/>
          <p:cNvSpPr/>
          <p:nvPr/>
        </p:nvSpPr>
        <p:spPr>
          <a:xfrm>
            <a:off x="7497247" y="7180540"/>
            <a:ext cx="6370439" cy="228957"/>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4C4C4D"/>
                </a:solidFill>
                <a:latin typeface="Heebo" pitchFamily="34" charset="0"/>
                <a:ea typeface="Heebo" pitchFamily="34" charset="-122"/>
                <a:cs typeface="Heebo" pitchFamily="34" charset="-120"/>
              </a:rPr>
              <a:t>AUC &gt; 0.80</a:t>
            </a:r>
            <a:r>
              <a:rPr lang="en-US" sz="1100" dirty="0">
                <a:solidFill>
                  <a:srgbClr val="4C4C4D"/>
                </a:solidFill>
                <a:latin typeface="Heebo" pitchFamily="34" charset="0"/>
                <a:ea typeface="Heebo" pitchFamily="34" charset="-122"/>
                <a:cs typeface="Heebo" pitchFamily="34" charset="-120"/>
              </a:rPr>
              <a:t> cho mô hình </a:t>
            </a:r>
            <a:r>
              <a:rPr lang="en-US" sz="1100" dirty="0">
                <a:solidFill>
                  <a:srgbClr val="2B0AFF"/>
                </a:solidFill>
                <a:latin typeface="Heebo" pitchFamily="34" charset="0"/>
                <a:ea typeface="Heebo" pitchFamily="34" charset="-122"/>
                <a:cs typeface="Heebo" pitchFamily="34" charset="-120"/>
              </a:rPr>
              <a:t>Random Forest</a:t>
            </a:r>
            <a:r>
              <a:rPr lang="en-US" sz="1100" dirty="0">
                <a:solidFill>
                  <a:srgbClr val="4C4C4D"/>
                </a:solidFill>
                <a:latin typeface="Heebo" pitchFamily="34" charset="0"/>
                <a:ea typeface="Heebo" pitchFamily="34" charset="-122"/>
                <a:cs typeface="Heebo" pitchFamily="34" charset="-120"/>
              </a:rPr>
              <a:t>.</a:t>
            </a:r>
            <a:endParaRPr lang="en-US" sz="1100" dirty="0"/>
          </a:p>
        </p:txBody>
      </p:sp>
      <p:sp>
        <p:nvSpPr>
          <p:cNvPr id="16" name="Text 12"/>
          <p:cNvSpPr/>
          <p:nvPr/>
        </p:nvSpPr>
        <p:spPr>
          <a:xfrm>
            <a:off x="7497247" y="7459504"/>
            <a:ext cx="6370439" cy="228957"/>
          </a:xfrm>
          <a:prstGeom prst="rect">
            <a:avLst/>
          </a:prstGeom>
          <a:noFill/>
          <a:ln/>
        </p:spPr>
        <p:txBody>
          <a:bodyPr wrap="none" lIns="0" tIns="0" rIns="0" bIns="0" rtlCol="0" anchor="t"/>
          <a:lstStyle/>
          <a:p>
            <a:pPr marL="342900" indent="-342900" algn="l">
              <a:lnSpc>
                <a:spcPts val="1800"/>
              </a:lnSpc>
              <a:buSzPct val="100000"/>
              <a:buChar char="•"/>
            </a:pPr>
            <a:r>
              <a:rPr lang="en-US" sz="1100" b="1" dirty="0">
                <a:solidFill>
                  <a:srgbClr val="4C4C4D"/>
                </a:solidFill>
                <a:latin typeface="Heebo" pitchFamily="34" charset="0"/>
                <a:ea typeface="Heebo" pitchFamily="34" charset="-122"/>
                <a:cs typeface="Heebo" pitchFamily="34" charset="-120"/>
              </a:rPr>
              <a:t>AUC &gt; 0.80</a:t>
            </a:r>
            <a:r>
              <a:rPr lang="en-US" sz="1100" dirty="0">
                <a:solidFill>
                  <a:srgbClr val="4C4C4D"/>
                </a:solidFill>
                <a:latin typeface="Heebo" pitchFamily="34" charset="0"/>
                <a:ea typeface="Heebo" pitchFamily="34" charset="-122"/>
                <a:cs typeface="Heebo" pitchFamily="34" charset="-120"/>
              </a:rPr>
              <a:t> cho mô hình </a:t>
            </a:r>
            <a:r>
              <a:rPr lang="en-US" sz="1100" dirty="0">
                <a:solidFill>
                  <a:srgbClr val="2B0AFF"/>
                </a:solidFill>
                <a:latin typeface="Heebo" pitchFamily="34" charset="0"/>
                <a:ea typeface="Heebo" pitchFamily="34" charset="-122"/>
                <a:cs typeface="Heebo" pitchFamily="34" charset="-120"/>
              </a:rPr>
              <a:t>SVM</a:t>
            </a:r>
            <a:r>
              <a:rPr lang="en-US" sz="1100" dirty="0">
                <a:solidFill>
                  <a:srgbClr val="4C4C4D"/>
                </a:solidFill>
                <a:latin typeface="Heebo" pitchFamily="34" charset="0"/>
                <a:ea typeface="Heebo" pitchFamily="34" charset="-122"/>
                <a:cs typeface="Heebo" pitchFamily="34" charset="-120"/>
              </a:rPr>
              <a:t>.</a:t>
            </a:r>
            <a:endParaRPr lang="en-US" sz="1100" dirty="0"/>
          </a:p>
        </p:txBody>
      </p:sp>
      <p:pic>
        <p:nvPicPr>
          <p:cNvPr id="17" name="Picture 16" descr="A white background with black and white clouds&#10;&#10;AI-generated content may be incorrect.">
            <a:extLst>
              <a:ext uri="{FF2B5EF4-FFF2-40B4-BE49-F238E27FC236}">
                <a16:creationId xmlns:a16="http://schemas.microsoft.com/office/drawing/2014/main" id="{AFC41D63-0896-AFF8-7E81-21F69B69911A}"/>
              </a:ext>
            </a:extLst>
          </p:cNvPr>
          <p:cNvPicPr>
            <a:picLocks noChangeAspect="1"/>
          </p:cNvPicPr>
          <p:nvPr/>
        </p:nvPicPr>
        <p:blipFill>
          <a:blip r:embed="rId5"/>
          <a:stretch>
            <a:fillRect/>
          </a:stretch>
        </p:blipFill>
        <p:spPr>
          <a:xfrm>
            <a:off x="11608875" y="7538203"/>
            <a:ext cx="3021525" cy="69139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793790" y="701754"/>
            <a:ext cx="4598313" cy="453628"/>
          </a:xfrm>
          <a:prstGeom prst="rect">
            <a:avLst/>
          </a:prstGeom>
          <a:noFill/>
          <a:ln/>
        </p:spPr>
        <p:txBody>
          <a:bodyPr wrap="none" lIns="0" tIns="0" rIns="0" bIns="0" rtlCol="0" anchor="t"/>
          <a:lstStyle/>
          <a:p>
            <a:pPr marL="0" indent="0" algn="l">
              <a:lnSpc>
                <a:spcPts val="3550"/>
              </a:lnSpc>
              <a:buNone/>
            </a:pPr>
            <a:r>
              <a:rPr lang="en-US" sz="2850" dirty="0">
                <a:solidFill>
                  <a:srgbClr val="152D47"/>
                </a:solidFill>
                <a:latin typeface="Crimson Pro Semi Bold" pitchFamily="34" charset="0"/>
                <a:ea typeface="Crimson Pro Semi Bold" pitchFamily="34" charset="-122"/>
                <a:cs typeface="Crimson Pro Semi Bold" pitchFamily="34" charset="-120"/>
              </a:rPr>
              <a:t>9. Kết luận &amp; Hướng phát triển</a:t>
            </a:r>
            <a:endParaRPr lang="en-US" sz="2850" dirty="0"/>
          </a:p>
        </p:txBody>
      </p:sp>
      <p:sp>
        <p:nvSpPr>
          <p:cNvPr id="3" name="Text 1"/>
          <p:cNvSpPr/>
          <p:nvPr/>
        </p:nvSpPr>
        <p:spPr>
          <a:xfrm>
            <a:off x="793790" y="1540907"/>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152D47"/>
                </a:solidFill>
                <a:latin typeface="Crimson Pro Semi Bold" pitchFamily="34" charset="0"/>
                <a:ea typeface="Crimson Pro Semi Bold" pitchFamily="34" charset="-122"/>
                <a:cs typeface="Crimson Pro Semi Bold" pitchFamily="34" charset="-120"/>
              </a:rPr>
              <a:t>Kết luận chính</a:t>
            </a:r>
            <a:endParaRPr lang="en-US" sz="1750" dirty="0"/>
          </a:p>
        </p:txBody>
      </p:sp>
      <p:sp>
        <p:nvSpPr>
          <p:cNvPr id="4" name="Text 2"/>
          <p:cNvSpPr/>
          <p:nvPr/>
        </p:nvSpPr>
        <p:spPr>
          <a:xfrm>
            <a:off x="793790" y="2005846"/>
            <a:ext cx="6300073"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4C4C4D"/>
                </a:solidFill>
                <a:latin typeface="Heebo" pitchFamily="34" charset="0"/>
                <a:ea typeface="Heebo" pitchFamily="34" charset="-122"/>
                <a:cs typeface="Heebo" pitchFamily="34" charset="-120"/>
              </a:rPr>
              <a:t>Bộ dữ liệu Pima Diabetes đã được sử dụng thành công để dự đoán nguy cơ mắc bệnh tiểu đường ở phụ nữ Pima Indian.</a:t>
            </a:r>
            <a:endParaRPr lang="en-US" sz="1400" dirty="0"/>
          </a:p>
        </p:txBody>
      </p:sp>
      <p:sp>
        <p:nvSpPr>
          <p:cNvPr id="5" name="Text 3"/>
          <p:cNvSpPr/>
          <p:nvPr/>
        </p:nvSpPr>
        <p:spPr>
          <a:xfrm>
            <a:off x="793790" y="2649855"/>
            <a:ext cx="6300073"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4C4C4D"/>
                </a:solidFill>
                <a:latin typeface="Heebo" pitchFamily="34" charset="0"/>
                <a:ea typeface="Heebo" pitchFamily="34" charset="-122"/>
                <a:cs typeface="Heebo" pitchFamily="34" charset="-120"/>
              </a:rPr>
              <a:t>Mô hình </a:t>
            </a:r>
            <a:r>
              <a:rPr lang="en-US" sz="1400" dirty="0">
                <a:solidFill>
                  <a:srgbClr val="2B0AFF"/>
                </a:solidFill>
                <a:latin typeface="Heebo" pitchFamily="34" charset="0"/>
                <a:ea typeface="Heebo" pitchFamily="34" charset="-122"/>
                <a:cs typeface="Heebo" pitchFamily="34" charset="-120"/>
              </a:rPr>
              <a:t>Random Forest</a:t>
            </a:r>
            <a:r>
              <a:rPr lang="en-US" sz="1400" dirty="0">
                <a:solidFill>
                  <a:srgbClr val="4C4C4D"/>
                </a:solidFill>
                <a:latin typeface="Heebo" pitchFamily="34" charset="0"/>
                <a:ea typeface="Heebo" pitchFamily="34" charset="-122"/>
                <a:cs typeface="Heebo" pitchFamily="34" charset="-120"/>
              </a:rPr>
              <a:t> đạt hiệu suất tốt nhất với độ chính xác xấp xỉ </a:t>
            </a:r>
            <a:r>
              <a:rPr lang="en-US" sz="1400" dirty="0">
                <a:solidFill>
                  <a:srgbClr val="2B0AFF"/>
                </a:solidFill>
                <a:latin typeface="Heebo" pitchFamily="34" charset="0"/>
                <a:ea typeface="Heebo" pitchFamily="34" charset="-122"/>
                <a:cs typeface="Heebo" pitchFamily="34" charset="-120"/>
              </a:rPr>
              <a:t>80%</a:t>
            </a:r>
            <a:r>
              <a:rPr lang="en-US" sz="1400" dirty="0">
                <a:solidFill>
                  <a:srgbClr val="4C4C4D"/>
                </a:solidFill>
                <a:latin typeface="Heebo" pitchFamily="34" charset="0"/>
                <a:ea typeface="Heebo" pitchFamily="34" charset="-122"/>
                <a:cs typeface="Heebo" pitchFamily="34" charset="-120"/>
              </a:rPr>
              <a:t>, chứng tỏ khả năng tổng quát hóa tốt trên dữ liệu mới.</a:t>
            </a:r>
            <a:endParaRPr lang="en-US" sz="1400" dirty="0"/>
          </a:p>
        </p:txBody>
      </p:sp>
      <p:sp>
        <p:nvSpPr>
          <p:cNvPr id="6" name="Text 4"/>
          <p:cNvSpPr/>
          <p:nvPr/>
        </p:nvSpPr>
        <p:spPr>
          <a:xfrm>
            <a:off x="793790" y="3293864"/>
            <a:ext cx="6300073" cy="580549"/>
          </a:xfrm>
          <a:prstGeom prst="rect">
            <a:avLst/>
          </a:prstGeom>
          <a:noFill/>
          <a:ln/>
        </p:spPr>
        <p:txBody>
          <a:bodyPr wrap="square" lIns="0" tIns="0" rIns="0" bIns="0" rtlCol="0" anchor="t"/>
          <a:lstStyle/>
          <a:p>
            <a:pPr marL="342900" indent="-342900" algn="l">
              <a:lnSpc>
                <a:spcPts val="2250"/>
              </a:lnSpc>
              <a:buSzPct val="100000"/>
              <a:buChar char="•"/>
            </a:pPr>
            <a:r>
              <a:rPr lang="en-US" sz="1400" dirty="0">
                <a:solidFill>
                  <a:srgbClr val="4C4C4D"/>
                </a:solidFill>
                <a:latin typeface="Heebo" pitchFamily="34" charset="0"/>
                <a:ea typeface="Heebo" pitchFamily="34" charset="-122"/>
                <a:cs typeface="Heebo" pitchFamily="34" charset="-120"/>
              </a:rPr>
              <a:t>Các mô hình khác như Logistic Regression và SVM cũng cho kết quả khả quan, với </a:t>
            </a:r>
            <a:r>
              <a:rPr lang="en-US" sz="1400" dirty="0">
                <a:solidFill>
                  <a:srgbClr val="2B0AFF"/>
                </a:solidFill>
                <a:latin typeface="Heebo" pitchFamily="34" charset="0"/>
                <a:ea typeface="Heebo" pitchFamily="34" charset="-122"/>
                <a:cs typeface="Heebo" pitchFamily="34" charset="-120"/>
              </a:rPr>
              <a:t>AUC &gt; 0.80</a:t>
            </a:r>
            <a:r>
              <a:rPr lang="en-US" sz="1400" dirty="0">
                <a:solidFill>
                  <a:srgbClr val="4C4C4D"/>
                </a:solidFill>
                <a:latin typeface="Heebo" pitchFamily="34" charset="0"/>
                <a:ea typeface="Heebo" pitchFamily="34" charset="-122"/>
                <a:cs typeface="Heebo" pitchFamily="34" charset="-120"/>
              </a:rPr>
              <a:t>, chỉ ra khả năng phân loại tốt hơn ngẫu nhiên.</a:t>
            </a:r>
            <a:endParaRPr lang="en-US" sz="1400" dirty="0"/>
          </a:p>
        </p:txBody>
      </p:sp>
      <p:sp>
        <p:nvSpPr>
          <p:cNvPr id="7" name="Text 5"/>
          <p:cNvSpPr/>
          <p:nvPr/>
        </p:nvSpPr>
        <p:spPr>
          <a:xfrm>
            <a:off x="793790" y="4055864"/>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152D47"/>
                </a:solidFill>
                <a:latin typeface="Crimson Pro Semi Bold" pitchFamily="34" charset="0"/>
                <a:ea typeface="Crimson Pro Semi Bold" pitchFamily="34" charset="-122"/>
                <a:cs typeface="Crimson Pro Semi Bold" pitchFamily="34" charset="-120"/>
              </a:rPr>
              <a:t>Hạn chế</a:t>
            </a:r>
            <a:endParaRPr lang="en-US" sz="1750" dirty="0"/>
          </a:p>
        </p:txBody>
      </p:sp>
      <p:sp>
        <p:nvSpPr>
          <p:cNvPr id="8" name="Text 6"/>
          <p:cNvSpPr/>
          <p:nvPr/>
        </p:nvSpPr>
        <p:spPr>
          <a:xfrm>
            <a:off x="793790" y="4520803"/>
            <a:ext cx="6300073" cy="580549"/>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4C4C4D"/>
                </a:solidFill>
                <a:latin typeface="Heebo" pitchFamily="34" charset="0"/>
                <a:ea typeface="Heebo" pitchFamily="34" charset="-122"/>
                <a:cs typeface="Heebo" pitchFamily="34" charset="-120"/>
              </a:rPr>
              <a:t>Dữ liệu nhỏ</a:t>
            </a:r>
            <a:r>
              <a:rPr lang="en-US" sz="1400" dirty="0">
                <a:solidFill>
                  <a:srgbClr val="4C4C4D"/>
                </a:solidFill>
                <a:latin typeface="Heebo" pitchFamily="34" charset="0"/>
                <a:ea typeface="Heebo" pitchFamily="34" charset="-122"/>
                <a:cs typeface="Heebo" pitchFamily="34" charset="-120"/>
              </a:rPr>
              <a:t>: Kích thước bộ dữ liệu (768 mẫu) tương đối nhỏ, hạn chế khả năng học của các mô hình phức tạp.</a:t>
            </a:r>
            <a:endParaRPr lang="en-US" sz="1400" dirty="0"/>
          </a:p>
        </p:txBody>
      </p:sp>
      <p:sp>
        <p:nvSpPr>
          <p:cNvPr id="9" name="Text 7"/>
          <p:cNvSpPr/>
          <p:nvPr/>
        </p:nvSpPr>
        <p:spPr>
          <a:xfrm>
            <a:off x="793790" y="5164812"/>
            <a:ext cx="6300073" cy="580549"/>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4C4C4D"/>
                </a:solidFill>
                <a:latin typeface="Heebo" pitchFamily="34" charset="0"/>
                <a:ea typeface="Heebo" pitchFamily="34" charset="-122"/>
                <a:cs typeface="Heebo" pitchFamily="34" charset="-120"/>
              </a:rPr>
              <a:t>Mất cân bằng nhãn</a:t>
            </a:r>
            <a:r>
              <a:rPr lang="en-US" sz="1400" dirty="0">
                <a:solidFill>
                  <a:srgbClr val="4C4C4D"/>
                </a:solidFill>
                <a:latin typeface="Heebo" pitchFamily="34" charset="0"/>
                <a:ea typeface="Heebo" pitchFamily="34" charset="-122"/>
                <a:cs typeface="Heebo" pitchFamily="34" charset="-120"/>
              </a:rPr>
              <a:t>: Tỷ lệ giữa các lớp không đồng đều, có thể làm mô hình ưu tiên lớp chiếm đa số.</a:t>
            </a:r>
            <a:endParaRPr lang="en-US" sz="1400" dirty="0"/>
          </a:p>
        </p:txBody>
      </p:sp>
      <p:sp>
        <p:nvSpPr>
          <p:cNvPr id="10" name="Text 8"/>
          <p:cNvSpPr/>
          <p:nvPr/>
        </p:nvSpPr>
        <p:spPr>
          <a:xfrm>
            <a:off x="793790" y="5808821"/>
            <a:ext cx="6300073" cy="870823"/>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4C4C4D"/>
                </a:solidFill>
                <a:latin typeface="Heebo" pitchFamily="34" charset="0"/>
                <a:ea typeface="Heebo" pitchFamily="34" charset="-122"/>
                <a:cs typeface="Heebo" pitchFamily="34" charset="-120"/>
              </a:rPr>
              <a:t>Thiếu dữ liệu đa dạng</a:t>
            </a:r>
            <a:r>
              <a:rPr lang="en-US" sz="1400" dirty="0">
                <a:solidFill>
                  <a:srgbClr val="4C4C4D"/>
                </a:solidFill>
                <a:latin typeface="Heebo" pitchFamily="34" charset="0"/>
                <a:ea typeface="Heebo" pitchFamily="34" charset="-122"/>
                <a:cs typeface="Heebo" pitchFamily="34" charset="-120"/>
              </a:rPr>
              <a:t>: Các thuộc tính chỉ xoay quanh một số yếu tố sinh lý cơ bản, chưa bao gồm các yếu tố lối sống, di truyền sâu hơn, hoặc dữ liệu lâm sàng chi tiết.</a:t>
            </a:r>
            <a:endParaRPr lang="en-US" sz="1400" dirty="0"/>
          </a:p>
        </p:txBody>
      </p:sp>
      <p:sp>
        <p:nvSpPr>
          <p:cNvPr id="11" name="Text 9"/>
          <p:cNvSpPr/>
          <p:nvPr/>
        </p:nvSpPr>
        <p:spPr>
          <a:xfrm>
            <a:off x="7544157" y="1540907"/>
            <a:ext cx="2268260" cy="283488"/>
          </a:xfrm>
          <a:prstGeom prst="rect">
            <a:avLst/>
          </a:prstGeom>
          <a:noFill/>
          <a:ln/>
        </p:spPr>
        <p:txBody>
          <a:bodyPr wrap="none" lIns="0" tIns="0" rIns="0" bIns="0" rtlCol="0" anchor="t"/>
          <a:lstStyle/>
          <a:p>
            <a:pPr marL="0" indent="0" algn="l">
              <a:lnSpc>
                <a:spcPts val="2200"/>
              </a:lnSpc>
              <a:buNone/>
            </a:pPr>
            <a:r>
              <a:rPr lang="en-US" sz="1750" dirty="0">
                <a:solidFill>
                  <a:srgbClr val="152D47"/>
                </a:solidFill>
                <a:latin typeface="Crimson Pro Semi Bold" pitchFamily="34" charset="0"/>
                <a:ea typeface="Crimson Pro Semi Bold" pitchFamily="34" charset="-122"/>
                <a:cs typeface="Crimson Pro Semi Bold" pitchFamily="34" charset="-120"/>
              </a:rPr>
              <a:t>Hướng phát triển</a:t>
            </a:r>
            <a:endParaRPr lang="en-US" sz="1750" dirty="0"/>
          </a:p>
        </p:txBody>
      </p:sp>
      <p:sp>
        <p:nvSpPr>
          <p:cNvPr id="12" name="Text 10"/>
          <p:cNvSpPr/>
          <p:nvPr/>
        </p:nvSpPr>
        <p:spPr>
          <a:xfrm>
            <a:off x="7544157" y="2005846"/>
            <a:ext cx="6300073" cy="870823"/>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4C4C4D"/>
                </a:solidFill>
                <a:latin typeface="Heebo" pitchFamily="34" charset="0"/>
                <a:ea typeface="Heebo" pitchFamily="34" charset="-122"/>
                <a:cs typeface="Heebo" pitchFamily="34" charset="-120"/>
              </a:rPr>
              <a:t>Thử nghiệm mô hình nâng cao</a:t>
            </a:r>
            <a:r>
              <a:rPr lang="en-US" sz="1400" dirty="0">
                <a:solidFill>
                  <a:srgbClr val="4C4C4D"/>
                </a:solidFill>
                <a:latin typeface="Heebo" pitchFamily="34" charset="0"/>
                <a:ea typeface="Heebo" pitchFamily="34" charset="-122"/>
                <a:cs typeface="Heebo" pitchFamily="34" charset="-120"/>
              </a:rPr>
              <a:t>: Áp dụng các thuật toán học máy tiên tiến hơn như XGBoost, LightGBM, CatBoost hoặc mạng nơ-ron sâu (Neural Networks) để khai thác các mối quan hệ phức tạp hơn trong dữ liệu.</a:t>
            </a:r>
            <a:endParaRPr lang="en-US" sz="1400" dirty="0"/>
          </a:p>
        </p:txBody>
      </p:sp>
      <p:sp>
        <p:nvSpPr>
          <p:cNvPr id="13" name="Text 11"/>
          <p:cNvSpPr/>
          <p:nvPr/>
        </p:nvSpPr>
        <p:spPr>
          <a:xfrm>
            <a:off x="7544157" y="2940129"/>
            <a:ext cx="6300073" cy="580549"/>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4C4C4D"/>
                </a:solidFill>
                <a:latin typeface="Heebo" pitchFamily="34" charset="0"/>
                <a:ea typeface="Heebo" pitchFamily="34" charset="-122"/>
                <a:cs typeface="Heebo" pitchFamily="34" charset="-120"/>
              </a:rPr>
              <a:t>Kỹ thuật cân bằng dữ liệu</a:t>
            </a:r>
            <a:r>
              <a:rPr lang="en-US" sz="1400" dirty="0">
                <a:solidFill>
                  <a:srgbClr val="4C4C4D"/>
                </a:solidFill>
                <a:latin typeface="Heebo" pitchFamily="34" charset="0"/>
                <a:ea typeface="Heebo" pitchFamily="34" charset="-122"/>
                <a:cs typeface="Heebo" pitchFamily="34" charset="-120"/>
              </a:rPr>
              <a:t>: Sử dụng các phương pháp như SMOTE để xử lý vấn đề mất cân bằng nhãn, giúp mô hình học tốt hơn từ lớp thiểu số.</a:t>
            </a:r>
            <a:endParaRPr lang="en-US" sz="1400" dirty="0"/>
          </a:p>
        </p:txBody>
      </p:sp>
      <p:sp>
        <p:nvSpPr>
          <p:cNvPr id="14" name="Text 12"/>
          <p:cNvSpPr/>
          <p:nvPr/>
        </p:nvSpPr>
        <p:spPr>
          <a:xfrm>
            <a:off x="7544157" y="3584138"/>
            <a:ext cx="6300073" cy="1161098"/>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4C4C4D"/>
                </a:solidFill>
                <a:latin typeface="Heebo" pitchFamily="34" charset="0"/>
                <a:ea typeface="Heebo" pitchFamily="34" charset="-122"/>
                <a:cs typeface="Heebo" pitchFamily="34" charset="-120"/>
              </a:rPr>
              <a:t>Tích hợp dữ liệu bổ sung</a:t>
            </a:r>
            <a:r>
              <a:rPr lang="en-US" sz="1400" dirty="0">
                <a:solidFill>
                  <a:srgbClr val="4C4C4D"/>
                </a:solidFill>
                <a:latin typeface="Heebo" pitchFamily="34" charset="0"/>
                <a:ea typeface="Heebo" pitchFamily="34" charset="-122"/>
                <a:cs typeface="Heebo" pitchFamily="34" charset="-120"/>
              </a:rPr>
              <a:t>: Mở rộng bộ dữ liệu bằng cách tích hợp các yếu tố lâm sàng khác như kết quả xét nghiệm máu chi tiết, thông tin về lối sống, chế độ ăn uống, hoặc dữ liệu di truyền để cải thiện độ chính xác và khả năng dự đoán.</a:t>
            </a:r>
            <a:endParaRPr lang="en-US" sz="1400" dirty="0"/>
          </a:p>
        </p:txBody>
      </p:sp>
      <p:sp>
        <p:nvSpPr>
          <p:cNvPr id="15" name="Text 13"/>
          <p:cNvSpPr/>
          <p:nvPr/>
        </p:nvSpPr>
        <p:spPr>
          <a:xfrm>
            <a:off x="7544157" y="4808696"/>
            <a:ext cx="6300073" cy="870823"/>
          </a:xfrm>
          <a:prstGeom prst="rect">
            <a:avLst/>
          </a:prstGeom>
          <a:noFill/>
          <a:ln/>
        </p:spPr>
        <p:txBody>
          <a:bodyPr wrap="square" lIns="0" tIns="0" rIns="0" bIns="0" rtlCol="0" anchor="t"/>
          <a:lstStyle/>
          <a:p>
            <a:pPr marL="342900" indent="-342900" algn="l">
              <a:lnSpc>
                <a:spcPts val="2250"/>
              </a:lnSpc>
              <a:buSzPct val="100000"/>
              <a:buChar char="•"/>
            </a:pPr>
            <a:r>
              <a:rPr lang="en-US" sz="1400" b="1" dirty="0">
                <a:solidFill>
                  <a:srgbClr val="4C4C4D"/>
                </a:solidFill>
                <a:latin typeface="Heebo" pitchFamily="34" charset="0"/>
                <a:ea typeface="Heebo" pitchFamily="34" charset="-122"/>
                <a:cs typeface="Heebo" pitchFamily="34" charset="-120"/>
              </a:rPr>
              <a:t>Giải thích mô hình</a:t>
            </a:r>
            <a:r>
              <a:rPr lang="en-US" sz="1400" dirty="0">
                <a:solidFill>
                  <a:srgbClr val="4C4C4D"/>
                </a:solidFill>
                <a:latin typeface="Heebo" pitchFamily="34" charset="0"/>
                <a:ea typeface="Heebo" pitchFamily="34" charset="-122"/>
                <a:cs typeface="Heebo" pitchFamily="34" charset="-120"/>
              </a:rPr>
              <a:t>: Áp dụng các kỹ thuật XAI (Explainable AI) để hiểu rõ lý do tại sao mô hình đưa ra dự đoán cụ thể, tăng cường sự tin cậy và khả năng áp dụng trong thực tế y tế.</a:t>
            </a:r>
            <a:endParaRPr lang="en-US" sz="1400" dirty="0"/>
          </a:p>
        </p:txBody>
      </p:sp>
      <p:sp>
        <p:nvSpPr>
          <p:cNvPr id="16" name="Text 14"/>
          <p:cNvSpPr/>
          <p:nvPr/>
        </p:nvSpPr>
        <p:spPr>
          <a:xfrm>
            <a:off x="793790" y="6947178"/>
            <a:ext cx="13042821" cy="580549"/>
          </a:xfrm>
          <a:prstGeom prst="rect">
            <a:avLst/>
          </a:prstGeom>
          <a:noFill/>
          <a:ln/>
        </p:spPr>
        <p:txBody>
          <a:bodyPr wrap="square" lIns="0" tIns="0" rIns="0" bIns="0" rtlCol="0" anchor="t"/>
          <a:lstStyle/>
          <a:p>
            <a:pPr marL="0" indent="0" algn="l">
              <a:lnSpc>
                <a:spcPts val="2250"/>
              </a:lnSpc>
              <a:buNone/>
            </a:pPr>
            <a:r>
              <a:rPr lang="en-US" sz="1400" dirty="0">
                <a:solidFill>
                  <a:srgbClr val="4C4C4D"/>
                </a:solidFill>
                <a:latin typeface="Heebo" pitchFamily="34" charset="0"/>
                <a:ea typeface="Heebo" pitchFamily="34" charset="-122"/>
                <a:cs typeface="Heebo" pitchFamily="34" charset="-120"/>
              </a:rPr>
              <a:t>Nghiên cứu này là một bước khởi đầu vững chắc trong việc ứng dụng học máy vào dự đoán bệnh tiểu đường. Với những hướng phát triển tiềm năng, chúng tôi tin rằng có thể xây dựng các mô hình ngày càng chính xác và đáng tin cậy hơn, góp phần nâng cao hiệu quả công tác phòng ngừa và điều trị bệnh tiểu đường.</a:t>
            </a:r>
            <a:endParaRPr lang="en-US" sz="1400" dirty="0"/>
          </a:p>
        </p:txBody>
      </p:sp>
      <p:pic>
        <p:nvPicPr>
          <p:cNvPr id="17" name="Picture 16" descr="A white background with black and white clouds&#10;&#10;AI-generated content may be incorrect.">
            <a:extLst>
              <a:ext uri="{FF2B5EF4-FFF2-40B4-BE49-F238E27FC236}">
                <a16:creationId xmlns:a16="http://schemas.microsoft.com/office/drawing/2014/main" id="{BFC4C3D6-9D3D-29BF-AE9F-4F915AB88E23}"/>
              </a:ext>
            </a:extLst>
          </p:cNvPr>
          <p:cNvPicPr>
            <a:picLocks noChangeAspect="1"/>
          </p:cNvPicPr>
          <p:nvPr/>
        </p:nvPicPr>
        <p:blipFill>
          <a:blip r:embed="rId3"/>
          <a:stretch>
            <a:fillRect/>
          </a:stretch>
        </p:blipFill>
        <p:spPr>
          <a:xfrm>
            <a:off x="11608875" y="7525345"/>
            <a:ext cx="3021525" cy="70425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101</TotalTime>
  <Words>1922</Words>
  <Application>Microsoft Macintosh PowerPoint</Application>
  <PresentationFormat>Custom</PresentationFormat>
  <Paragraphs>145</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Heebo</vt:lpstr>
      <vt:lpstr>Crimson Pro Semi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Nguyễn Hiếu Ngân</cp:lastModifiedBy>
  <cp:revision>2</cp:revision>
  <dcterms:created xsi:type="dcterms:W3CDTF">2025-09-29T14:47:03Z</dcterms:created>
  <dcterms:modified xsi:type="dcterms:W3CDTF">2025-09-29T16:28:41Z</dcterms:modified>
</cp:coreProperties>
</file>